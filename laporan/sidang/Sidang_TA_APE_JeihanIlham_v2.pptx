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&amp; identitas verbatim lembar pengesahan (varian YOLO26 sesuai keputusan 2026-07-12).</a:t>
            </a:r>
          </a:p>
          <a:p>
            <a:r>
              <a:t>SUMBER: laporan\515_Laporan TA_[R].docx (halaman pengesahan; halaman sampul menulis 'YOLO' — konflik dicatat untuk perbaikan dokumen tesis, di luar lingkup deck).</a:t>
            </a:r>
          </a:p>
          <a:p>
            <a:r>
              <a:t>Pembimbing: placeholder template di docx; tidak ditemukan di file workspace mana pun.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(Kasus Nyata dulu). Konteks klien heterogen dipindah dari slide 'Masalah &amp; gap' v2.</a:t>
            </a:r>
          </a:p>
          <a:p>
            <a:r>
              <a:t>SUMBER: laporan\515_Laporan TA_[R].docx Bab I §I.1 (¶3) + §I.5 Pemangku Kepentingan (¶ PT Ganesha Digital Solusi); alur: laporan/sidang/510_Presentasi_[R]_compressed.pdf p2–3.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konsep (padanan slide 'Taksonomi?' deck acuan p4–6): satu konsep yang harus dipahami penguji sebelum masalah. Definisi REST/GraphQL + over-/under-fetching diringkas dari Bab II; poin POST-tidak-cacheable dipindah dari slide 'Masalah &amp; gap' v2.</a:t>
            </a:r>
          </a:p>
          <a:p>
            <a:r>
              <a:t>SUMBER: laporan\515_Laporan TA_[R].docx Bab II §II.2.1 (Fielding 2000), §II.2.2 (GraphQL; Brito &amp; Valente 2020; Elghazal 2025), §II.2.3 (over-/under-fetching, N+1; Brito et al. 2019; Quiña-Mera et al. 2023); alur: laporan/sidang/510_Presentasi_[R]_compressed.pdf p4–6.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'Gap' slide v2 dipecah ke sini + kutipan kesenjangan verbatim.</a:t>
            </a:r>
          </a:p>
          <a:p>
            <a:r>
              <a:t>SUMBER: laporan\515_Laporan TA_[R].docx Bab II §II.4 (¶ 'Berdasarkan pemetaan pada ketiga klaster literatur…' — verbatim; ¶ kelemahan klaster VDBMS); Bab I §I.2; rumusan masalah 3 butir verbatim ada di Lampiran 1; alur: laporan/sidang/510_Presentasi_[R]_compressed.pdf p7.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Padanan slide 'Solusi yang Diusulkan' acuan p8. Diringkas dari ¶ penutup Bab II §II.4 (kalimat 'Penelitian ini mengisi kesenjangan tersebut…').</a:t>
            </a:r>
          </a:p>
          <a:p>
            <a:r>
              <a:t>SUMBER: laporan\515_Laporan TA_[R].docx Bab II §II.4 ¶ terakhir; alur: laporan/sidang/510_Presentasi_[R]_compressed.pdf p8.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RQ1–RQ3 verbatim — jangan diparafrase saat presentasi.</a:t>
            </a:r>
          </a:p>
          <a:p>
            <a:r>
              <a:t>SUMBER: laporan\515_Laporan TA_[R].docx Bab I §Research Question.</a:t>
            </a:r>
          </a:p>
          <a:p>
            <a:r>
              <a:t>Catatan desain: slide ini melebihi budget 40 kata karena aturan verbatim (hard rule) mengalahkan budget kata.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verbatim: 'empat hipotesis substantif (H1–H4)…' dengan H0 = tidak terdapat perbedaan kinerja signifikan per sel, Ha sebaliknya.</a:t>
            </a:r>
          </a:p>
          <a:p>
            <a:r>
              <a:t>SUMBER: laporan\515_Laporan TA_[R].docx Bab I §Hipotesa.</a:t>
            </a:r>
          </a:p>
          <a:p>
            <a:r>
              <a:t>Catatan desain: melebihi 40 kata karena aturan verbatim.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(Tujuan setelah RQ).</a:t>
            </a:r>
          </a:p>
          <a:p>
            <a:r>
              <a:t>SUMBER: laporan\515_Laporan TA_[R].docx Bab I §I.4 Tujuan Penelitian (2 butir verbatim); alur: laporan/sidang/510_Presentasi_[R]_compressed.pdf p10.</a:t>
            </a:r>
          </a:p>
          <a:p>
            <a:r>
              <a:t>Catatan desain: melebihi 40 kata karena aturan verbatim.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(Variabel setelah Tujuan).</a:t>
            </a:r>
          </a:p>
          <a:p>
            <a:r>
              <a:t>SUMBER: laporan\515_Laporan TA_[R].docx Bab III §III.2.1 Variabel Bebas, §III.2.2 Variabel Terikat (6 metrik; Crankshaw dkk. 2017; Brito dkk. 2019; Lawi dkk. 2021), §III.2.3 Variabel Kontrol (4 butir); alur: laporan/sidang/510_Presentasi_[R]_compressed.pdf p11.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korpus diverifikasi query langsung ke mot_detections.db (2026-07-12): 7/2.846/5.429/104.767; tier 579/1.555/712.</a:t>
            </a:r>
          </a:p>
          <a:p>
            <a:r>
              <a:t>SUMBER: laporan\515_Laporan TA_[R].docx Bab I §Dukungan Data (3 kategori data; alasan VisDrone-MOT) + Bab III §Data Penelitian (stratifikasi kuartil, Tabel III.1); training/build_detection_db.py (docstring CORPUS DEFINITION); training/mot_detections.db (verifikasi); alur: laporan/sidang/510_Presentasi_[R]_compressed.pdf p12.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(Perangkat Pendukung, p13).</a:t>
            </a:r>
          </a:p>
          <a:p>
            <a:r>
              <a:t>SUMBER: laporan\515_Laporan TA_[R].docx Bab III §III.5.2 Tabel III.3 (OS, Python 3.12.3, netns) + §III.5.3 Tabel III.4 (YOLO26, FastAPI 0.137.2, Strawberry 0.317.2, k6 2.0.0, psutil 7.2.2); Varnish: Bab III §Variabel Kontrol + APEta/cache/varnish.vcl; netns: APEta/tools/netns_topology.sh; alur: laporan/sidang/510_Presentasi_[R]_compressed.pdf p13.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(padanan slide novelty p14). Kalimat judul = verbatim inti Bab VII ¶ penutup.</a:t>
            </a:r>
          </a:p>
          <a:p>
            <a:r>
              <a:t>SUMBER: laporan\515_Laporan TA_[R].docx Bab VII §Kesimpulan ¶ terakhir ('Kontribusi utama penelitian bukan semata angka perbandingan…') + Bab I §I.5 (produk akhir + 3 ¶ stakeholder); alur: laporan/sidang/510_Presentasi_[R]_compressed.pdf p14.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baru mengikuti alur acuan (Tahapan Penelitian p15). Nama 7 fase verbatim dari ¶ pembuka §III.4.</a:t>
            </a:r>
          </a:p>
          <a:p>
            <a:r>
              <a:t>SUMBER: laporan\515_Laporan TA_[R].docx Bab III §III.4 Tahapan Pelaksanaan Penelitian (¶1); alur: laporan/sidang/510_Presentasi_[R]_compressed.pdf p15.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 §Batasan butir 1–5 (kutipan verbatim butir Sumber Data); Bab III (pemilihan VisDrone-MOT); APEta/design/STUDY_COMPARISON.md §4; laporan/phase2_migration/DRAFT_AUDIT_PHASE2.md.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DetectionDAL (nol SQL di lapisan penyajian), core/caching.py satu fungsi header utk kedua server, JSON compact + snake_case dua sisi. Parity gate MOT: 18 passed / 2 skipped; delta envelope konstan 19 B (M1–M3) / 13 B (M4).</a:t>
            </a:r>
          </a:p>
          <a:p>
            <a:r>
              <a:t>SUMBER: laporan\515_Laporan TA_[R].docx Bab IV §IV.3–IV.5; APEta/design/PARITY_REPORT_MOT.md; APEta/cache/varnish.vcl; APEta/design/CALIBRATION.md (setup).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Tabel III.6–III.8 + §Pelaksanaan + §Analisis (Holm per keluarga metrik; interpretasi ganda); APEta/design/CALIBRATION.md (rates 25/50/74 &amp; 17/34/52); sumber Tabel L.1 (n=30, Cliff's δ, Holm).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 lat p50 = −1,00 di 12/12 kombinasi M1–M4 × tier pada ketiga laju (fx_mot_delta_heatmap_rt). '36/36 sel signifikan setelah Holm, semua REST-favored' — MORNING_RUN_REPORT §3a.</a:t>
            </a:r>
          </a:p>
          <a:p>
            <a:r>
              <a:t>SUMBER: laporan/figures/export/rq1_stats.json (medians); laporan\515_Laporan TA_[R].docx Bab V §Hasil RQ1 (+51%–+141%; 8,70 vs 20,94); laporan/figures/export/effects_stats.json; APEta/MORNING_RUN_REPORT.md §3a.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Efek marginal tiga variabel bebas (Gambar V.3 di laporan). Grounding mekanistik: biaya eksekusi proporsional jumlah field/objek (Hartig &amp; Pérez 2018; Cha et al. 2020).</a:t>
            </a:r>
          </a:p>
          <a:p>
            <a:r>
              <a:t>SUMBER: laporan/figures/export/effects_stats.json (fx_mot_maineffect_lat_p50); laporan\515_Laporan TA_[R].docx Bab V §Hasil RQ1.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Open-loop → throughput sub-saturasi setara target (M1·high r80: 50,01 vs 50,00 req/s) sehingga CPU adalah pembeda sumber daya yang konsisten. CPU/RSS valid dari korpus MOT; grid caching CPU/RSS dari re-run phase2-core-clean (REST ≈2,8%/≈49 MB vs GraphQL ≈8,7%/≈59 MB).</a:t>
            </a:r>
          </a:p>
          <a:p>
            <a:r>
              <a:t>SUMBER: laporan/figures/export/rq1_stats.json (cpu_mean); laporan\515_Laporan TA_[R].docx Bab V §Hasil RQ1 + §Ancaman Validitas (Tabel L.2); laporan/sidang/figur/MANIFEST.md butir 05.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Nilai persis docx: 6.725,32 ms vs 8,64 ms. Saturasi antrean open-loop; dropped_iterations&gt;0 hanya di 91 baris overload by design.</a:t>
            </a:r>
          </a:p>
          <a:p>
            <a:r>
              <a:t>SUMBER: laporan\515_Laporan TA_[R].docx Bab V §Hasil RQ1 (overload); APEta/design/CALIBRATION.md; APEta/MORNING_RUN_REPORT.md Phase 1 (91 baris).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Non-temuan dilaporkan eksplisit sebagai temuan (koreksi empiris klaim populer). Payload worst case 1,22 (M4·low); 17 sel tak terpisah statistik.</a:t>
            </a:r>
          </a:p>
          <a:p>
            <a:r>
              <a:t>SUMBER: laporan/figures/export/effects_stats.json (fx_mot_overfetch; fx_mot_decoupling n=39); laporan\515_Laporan TA_[R].docx Bab V §Hasil RQ1 (payload &amp; throughput); laporan/figures/export/factorialA_stats.json (payload_envelope +30 B; 46/48).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 menempuh 2 round-trip (track lalu trajectory), GraphQL 1 kueri komposit. Pada w23 biaya resolusi payload melampaui penghematan round-trip.</a:t>
            </a:r>
          </a:p>
          <a:p>
            <a:r>
              <a:t>SUMBER: laporan/figures/export/rq2_stats.json (m5_window r40); laporan\515_Laporan TA_[R].docx Bab V §Hasil RQ2 bagian pertama.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 kunci sidang (MANIFEST butir 08). REST tumbuh ~linear terhadap K; GraphQL landai; K* ≈ 2 terinterpolasi (rq2_stats.json k_star=2.0). Region crossover ditandai eksplisit pada chart.</a:t>
            </a:r>
          </a:p>
          <a:p>
            <a:r>
              <a:t>SUMBER: laporan/figures/export/rq2_stats.json (m6_crossover r40, k_star); laporan\515_Laporan TA_[R].docx Bab V §Hasil RQ2 (kuantifikasi crossover); laporan/sidang/figur/MANIFEST.md butir 08.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round_trip_count per operasi logis: REST 1 (M1–M4), 2 (M5), 1/5/10 (M6); GraphQL selalu 1. round_trip_count adalah deskriptor desain, bukan outcome terukur (disclosure MORNING_RUN_REPORT #4).</a:t>
            </a:r>
          </a:p>
          <a:p>
            <a:r>
              <a:t>SUMBER: laporan/figures/export/effects_stats.json (fx_mot_mechanism_roundtrip); laporan\515_Laporan TA_[R].docx Bab V §Hasil RQ2; APEta/MORNING_RUN_REPORT.md (disclosures #4).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 = +1,00 (GraphQL menang penuh) hanya M6 k5/k10 di ketiga laju; M5·w2·r40 δ +0,32 (imbang; selisih median 0,1 ms).</a:t>
            </a:r>
          </a:p>
          <a:p>
            <a:r>
              <a:t>SUMBER: laporan/figures/export/effects_stats.json (fx_mot_delta_heatmap_page); laporan\515_Laporan TA_[R].docx Bab V §Hasil RQ2; laporan/sidang/figur/MANIFEST.md butir 10.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Distribusi hit rate lengkap: Lampiran E4 + chart E6.</a:t>
            </a:r>
          </a:p>
          <a:p>
            <a:r>
              <a:t>SUMBER: laporan/figures/export/rq3_caching_figures_stats.json (fig_21, fig_22); laporan\515_Laporan TA_[R].docx Bab V §Hasil RQ2 bagian kedua + §Pembahasan RQ3.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Kolom payload menunjukkan δ berbalik pada beberapa sel (relevan utk vonis H4 — Lampiran I2). CPU/RSS grid ini dari phase2-core-clean (Tabel L.2).</a:t>
            </a:r>
          </a:p>
          <a:p>
            <a:r>
              <a:t>SUMBER: laporan/figures/export/effects_stats.json (fx_cache_delta_heatmap); laporan\515_Laporan TA_[R].docx Bab V (rangkuman grid caching); laporan/sidang/figur/MANIFEST.md butir 15.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APEta/design/STUDY_COMPARISON.md §3 (345.879; 7.947.457 iterasi GraphQL; 0,1–59,5% offset log) + §1 (paralelisme 9.000/9.720 = 92,6%); APEta/MORNING_RUN_REPORT.md (verdik, guard, replikasi); laporan\515_Laporan TA_[R].docx Bab V §Ancaman terhadap Validitas (6 butir).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VII §Kesimpulan (4 paragraf, dipetakan 1:1 ke RQ; kutip paragraf penutup utk 'scoped'). Vonis H4 tidak ada di Bab V/VII (temuan REVIEW_MENYELURUH_TESIS.md §7.1) — draf kalimat vonis diserahkan terpisah via chat; slide di-update SETELAH teks tesis ada.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penanda demo (padanan slide 'Demo' deck acuan p41); konten &amp; durasi demo ditentukan presenter. Kandidat demo dari artefak yang ada: (1) permintaan identik ke REST vs GraphQL (APQ-over-GET) memperlihatkan payload paritas; (2) parity test A1/A2 (test_parity.py, 18 passed); (3) k6 run singkat satu sel.</a:t>
            </a:r>
          </a:p>
          <a:p>
            <a:r>
              <a:t>SUMBER: alur laporan/sidang/510_Presentasi_[R]_compressed.pdf p41; artefak APEta/ (rest_server.py, graphql_server.py, test_parity.py, skrip k6).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VII §Saran (4 butir) + §Rencana Keberlanjutan dan Komersialisasi.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 §I.1 (latar belakang ¶1–2, ¶7) + §Tujuan Penelitian (2 butir).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 §Hasil Uji Pendahuluan; APEta/FACTORIAL_DESIGN_SUMMARY.md (superseded header); APEta/METHODOLOGICAL_VERIFICATION.md (koreksi pasca-audit); APEta/design/SCENARIO_DESIGN.md §1 (commit 824b195).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 §Rumusan Masalah (3 butir verbatim).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RESOLUSI VERIFIKASI (2026-07-13):</a:t>
            </a:r>
          </a:p>
          <a:p>
            <a:r>
              <a:t>(a) Jumlah citra: folder VisDrone2019-DET-train dihitung langsung = 6.471 images (d:/TA/APEv2/datasets/VisDrone); run2 = split internal 90/10 → n_val = int(round(6.471×0,10)) = 647 → train_sub = 5.824 (aritmetika deterministik prepare_visdrone.py split_train()).</a:t>
            </a:r>
          </a:p>
          <a:p>
            <a:r>
              <a:t>(b) Checkpoint korpus = run2 best.pt — rantai bukti: default infer_mot_track.py (…yolo26n_t4_run2/weights/best.pt) + MOT_INFERENCE_GUIDE.md §Model Details + timeline (KAGGLE_RUN3.md: mot_detections.db FROZEN, run3 diluncurkan 2026-07-09 SETELAH korpus dipakai eksperimen 2–6 Jul).</a:t>
            </a:r>
          </a:p>
          <a:p>
            <a:r>
              <a:t>CATATAN KONSISTENSI utk tesis: Tabel III.2 (SGD, 200/15, seed 42) = protokol pelatihan final (run3); korpus dibangun dari checkpoint run2 (args run2: data=visdrone.yaml, epochs 100, optimizer auto, seed 0 — training/runs/detect/visdrone_finetune/yolo26n_t4_run2/args.yaml).</a:t>
            </a:r>
          </a:p>
          <a:p>
            <a:r>
              <a:t>SUMBER: laporan\515_Laporan TA_[R].docx Bab III Tabel III.2; training/prepare_visdrone.py; training/visdrone.yaml &amp; visdrone_official.yaml; training/runs/detect/visdrone_finetune/*/args.yaml; training/MOT_INFERENCE_GUIDE.md; training/KAGGLE_RUN3.md.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 pilot optimizer, verbatim angka); laporan/reproducibility/PILOT_TRAINING_YOLO26.md; training/pilots/2026-07-07_optimizer_pace/.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training/KAGGLE_RUN3.md (header supersession + LESSONS + hard rules); training/runs/detect/visdrone_finetune/yolo26n_t4_run3_official/args.yaml (device '0', batch 4, SGD, seed 42).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 §Dukungan Data; Bab III (tabel tier); Bab IV Tabel IV.1–IV.2; verifikasi sqlite langsung 2026-07-12 (semua count cocok); APEta/design/SCENARIO_DESIGN.md §3 (kelas payload).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ERD memakai ekspor laporan/figures/export/fig_20_erd_mot_schema.png (caption resmi di laporan/figures/FIGURE_CAPTIONS.md §fig_20). Skema mengizinkan track_id NULL; data aktual 0 NULL.</a:t>
            </a:r>
          </a:p>
          <a:p>
            <a:r>
              <a:t>SUMBER: training/build_detection_db.py (docstring CORPUS DEFINITION + SCHEMA DDL); APEta/design/mot_profile.json.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Perintah verifikasi: bandingkan mot_val_predictions_tracked_conf001/*.txt kolom target_id vs tabel track/detection di mot_detections.db (ids_equal=True &amp; rows_equal=True utk ketujuh sequence).</a:t>
            </a:r>
          </a:p>
          <a:p>
            <a:r>
              <a:t>SUMBER: training/infer_mot_track.py (docstring + defaults); training/build_detection_db.py; training/mot_val_predictions_tracked_conf001/ (7 file); training/mot_detections.db.</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§Perangkat Pendukung (Tabel III.2–III.4, verbatim).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APEta/design/CALIBRATION.md §Setup + Methods note (strictly serial); laporan\515_Laporan TA_[R].docx Bab III §Mitigasi Dampak Termal; Cuplikan Kode IV.9 (shuffle seed); APEta/MORNING_RUN_REPORT.md Phase 4c (pinning verified live).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APEta/tools/netns_topology.sh (apply_netem: nilai lan/constrained); APEta/tools/netem.sh (header threat-to-validity + pengukuran 99/228/113 ms); laporan\515_Laporan TA_[R].docx Bab V §Ancaman Validitas (komparabilitas antar-korpus).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APEta/cache/varnish.vcl (komentar in-file, verbatim alur &amp; bug); tests/test_cache_fairness.py via laporan\515_Laporan TA_[R].docx Bab IV §IV.5.2.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(deskripsi M1–M6 + Tabel III.7) + Cuplikan Kode IV.8 (k6 options verbatim); APEta/design/SCENARIO_DESIGN.md §3–4 (konstanta, window points, pool); APEta/k6/workload_mot.js.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Tabel III.6 (verbatim) + ¶ Pengulangan Eksekusi (744).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Tabel III.7–III.8 + sumber tabel (results/mot-scenarios-core/run_plan.csv: 108 warmup + 3.240).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Probe 12 s bertingkat + 2 langkah biseksi pada tier terberat per keluarga (M1-high, M5-w23, M6-k10); overload_saturates mencatat protokol pendefinisi ceiling (image/track: graphql; page: rest).</a:t>
            </a:r>
          </a:p>
          <a:p>
            <a:r>
              <a:t>SUMBER: APEta/design/CALIBRATION.md (tabel probe + ceilings + methods note, verbatim).</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laporan/OUTLINE_MASTER.md (tabel ringkasan dua sumber data, item 10); APEta/design/STUDY_COMPARISON.md §1–§3.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 Tabel V.1 (verbatim); APEta/MORNING_RUN_REPORT.md §3a (rasio, arah CPU/RSS).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Median dibaca build-time dari rq1_stats.json (sumber CSV 3.240 baris); δ dari effects_stats.json (fx_mot_delta_heatmap_rt, −1,00 di 12×3 sel); pernyataan p dari laporan\515_Laporan TA_[R].docx Lampiran 4 Tabel L.1.</a:t>
            </a:r>
          </a:p>
          <a:p>
            <a:r>
              <a:t>SUMBER: laporan/figures/export/rq1_stats.json; laporan/figures/export/effects_stats.json; laporan\515_Laporan TA_[R].docx Tabel L.1.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nilai dibaca build-time dari rq2_stats.json (page_latency_med; delta_vs_round_trip).</a:t>
            </a:r>
          </a:p>
          <a:p>
            <a:r>
              <a:t>SUMBER: laporan/figures/export/rq2_stats.json; laporan\515_Laporan TA_[R].docx Bab V §Hasil RQ2 + Tabel L.1 (M5/M6).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 rate &amp; delta dibaca build-time dari rq3_caching_figures_stats.json (sumber phase2-core-real/results.csv, 720 baris); CPU/RSS &amp; replikasi dari laporan\515_Laporan TA_[R].docx Bab V §Ancaman Validitas (butir telemetri, verbatim) → Tabel L.2.</a:t>
            </a:r>
          </a:p>
          <a:p>
            <a:r>
              <a:t>SUMBER: laporan/figures/export/rq3_caching_figures_stats.json; laporan\515_Laporan TA_[R].docx Tabel L.2 + §Ancaman Validitas.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dari factorialA_stats.json (ratio_p95_grid; rentang tampil 2,25–5,95). Angka teks dari MORNING_RUN_REPORT §3b dan laporan\515_Laporan TA_[R].docx Bab V (2,2×–7,1×, median 2,7×).</a:t>
            </a:r>
          </a:p>
          <a:p>
            <a:r>
              <a:t>SUMBER: laporan/figures/export/factorialA_stats.json; APEta/MORNING_RUN_REPORT.md §3b; laporan\515_Laporan TA_[R].docx Bab V (studi faktorial tambahan).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laporan/figures/export/rq3_caching_figures_stats.json (fig_21); laporan\515_Laporan TA_[R].docx Bab V §Hasil RQ2 bagian kedua.</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§Formulasi Uji Mann-Whitney U dan Ukuran Efek + §Kerangka Interpretasi; laporan/REVIEW_MENYELURUH_TESIS.md §4.10 &amp; F8 (tiga versi ambang; rekomendasi standarkan Romano).</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III §Interpretasi (¶ koreksi, verbatim 'Holm per keluarga metrik; BH untuk uji pendahuluan'); APEta/MORNING_RUN_REPORT.md §3a (keluarga overload terpisah); laporan/REVIEW_MENYELURUH_TESIS.md F5.</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APEta/design/STUDY_COMPARISON.md §3 'run-sesi-1 GraphQL in-band errors' (semua angka verbatim) + §5 Study A gap #3–4.</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APEta/MORNING_RUN_REPORT.md (tabel verdik; Phase 4a patch workload.js; Phase 4b smoke + negative control; kesimpulan #6).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Dalam-sesi selalu serial (0 overlap di 17 sesi); antar-sesi puncak 8 paralel pertama 2026-06-28 05:18; netns terpisah per sesi tetapi CPU/memori/SQLite bersama; core-mask sesi paralel tidak terekam (tanpa env snapshot).</a:t>
            </a:r>
          </a:p>
          <a:p>
            <a:r>
              <a:t>SUMBER: APEta/design/STUDY_COMPARISON.md §1 (tabel sesi) + §3 (rekonstruksi timestamp); laporan/OUTLINE_MASTER.md (scope RQ3 = 720 run).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 §Ancaman Validitas (butir 'Validitas internal telemetri', verbatim); APEta/MORNING_RUN_REPORT.md Phase 4 (launcher, pinning verified).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env_snapshot lengkap: k6 v2.0.0, git SHA 83d364a, netem 'delay 5ms 1ms rate 100Mbit' terverifikasi; backup penuh di branch results-backup (commit 0e84cc8, pushed).</a:t>
            </a:r>
          </a:p>
          <a:p>
            <a:r>
              <a:t>SUMBER: APEta/MORNING_RUN_REPORT.md Phase 0–2 + Threats-to-validity disclosures #1–2.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IV §IV.5.1–IV.5.3 (verbatim tiga bukti A3); APEta/design/PARITY_REPORT_MOT.md; APEta/design/STUDY_COMPARISON.md §3 (MOT parity gate).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IV Increment 3 (alur APQ verbatim); APEta/graphql_server.py (route GET /graphql); referensi Apollo GraphQL (2026) di daftar pustaka.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IV §Analisis Domain + Increment 4 + Bab VII §Saran butir 3 (verbatim rujukan WunderGraph).</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laporan/REVIEW_MENYELURUH_TESIS.md §8 (serangan &amp; amunisi) + F1 (tiga perbedaan desain ukur Lawi).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laporan\515_Laporan TA_[R].docx Bab VII (vonis H1, H2 sebagian, H3 mekanistis — verbatim); laporan/REVIEW_MENYELURUH_TESIS.md §7.1–7.2 (H4 tanpa vonis; entropy drill-in 1.440 run) + F2/F3; memori proyek (mismatch H3 drill-in).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Reproduksi verbatim DAFTAR PUSTAKA final (blok pasca-audit) dari laporan\515_Laporan TA_[R].docx; nol referensi baru. Cross-check: scratch_paperbank.json (42 entri PB-01…PB-42) + paper_bank_verified.xlsx + papers/ (38 PDF).</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Reproduksi verbatim DAFTAR PUSTAKA final (blok pasca-audit) dari laporan\515_Laporan TA_[R].docx; nol referensi baru. Cross-check: scratch_paperbank.json (42 entri PB-01…PB-42) + paper_bank_verified.xlsx + papers/ (38 PDF).</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Reproduksi verbatim DAFTAR PUSTAKA final (blok pasca-audit) dari laporan\515_Laporan TA_[R].docx; nol referensi baru. Cross-check: scratch_paperbank.json (42 entri PB-01…PB-42) + paper_bank_verified.xlsx + papers/ (38 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2.xml"/><Relationship Id="rId4" Type="http://schemas.openxmlformats.org/officeDocument/2006/relationships/slide" Target="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slide" Target="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slide" Target="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slide" Target="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slide" Target="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slide" Target="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slide" Target="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slide" Target="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slide" Target="slide2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slide" Target="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slide" Target="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slide" Target="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slide" Target="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slide" Target="slide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slide" Target="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slide" Target="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slide" Target="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slide" Target="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60.xml"/><Relationship Id="rId4" Type="http://schemas.openxmlformats.org/officeDocument/2006/relationships/slide" Target="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61.xml"/><Relationship Id="rId4" Type="http://schemas.openxmlformats.org/officeDocument/2006/relationships/slide" Target="slide5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slide" Target="slide2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slide" Target="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slide" Target="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slide" Target="slide2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slide" Target="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slide" Target="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slide" Target="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slide" Target="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slide" Target="slide6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slide" Target="slide2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slide" Target="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slide" Target="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slide" Target="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slide" Target="slide2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slide" Target="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slide" Target="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slide" Target="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slide" Target="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slide" Target="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1417320"/>
            <a:ext cx="10728655" cy="2377440"/>
          </a:xfrm>
          <a:prstGeom prst="rect">
            <a:avLst/>
          </a:prstGeom>
          <a:noFill/>
        </p:spPr>
        <p:txBody>
          <a:bodyPr wrap="square" lIns="0" rIns="0" tIns="0" bIns="0">
            <a:spAutoFit/>
          </a:bodyPr>
          <a:lstStyle/>
          <a:p>
            <a:pPr algn="l">
              <a:lnSpc>
                <a:spcPct val="108000"/>
              </a:lnSpc>
              <a:spcAft>
                <a:spcPts val="1000"/>
              </a:spcAft>
            </a:pPr>
            <a:r>
              <a:rPr sz="3000" b="0" i="0">
                <a:solidFill>
                  <a:srgbClr val="1C1B1A"/>
                </a:solidFill>
                <a:latin typeface="IBM Plex Sans SmBld"/>
              </a:rPr>
              <a:t>ANALISIS PERFORMA KOMUNIKASI DATA REST API DAN GRAPHQL DALAM PENYAJIAN DATA DETEKSI OBJEK MENGGUNAKAN YOLO26</a:t>
            </a:r>
          </a:p>
          <a:p>
            <a:pPr algn="l">
              <a:lnSpc>
                <a:spcPct val="115000"/>
              </a:lnSpc>
              <a:spcAft>
                <a:spcPts val="0"/>
              </a:spcAft>
            </a:pPr>
            <a:r>
              <a:rPr sz="1500" b="0" i="1">
                <a:solidFill>
                  <a:srgbClr val="6B675F"/>
                </a:solidFill>
                <a:latin typeface="IBM Plex Sans"/>
              </a:rPr>
              <a:t>Performance Analysis of REST API and GraphQL in Delivering Object Detection Data Using YOLO26</a:t>
            </a:r>
          </a:p>
        </p:txBody>
      </p:sp>
      <p:sp>
        <p:nvSpPr>
          <p:cNvPr id="3" name="Rectangle 2"/>
          <p:cNvSpPr/>
          <p:nvPr/>
        </p:nvSpPr>
        <p:spPr>
          <a:xfrm>
            <a:off x="731520" y="3977639"/>
            <a:ext cx="3840480"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206240"/>
            <a:ext cx="10728655" cy="1554480"/>
          </a:xfrm>
          <a:prstGeom prst="rect">
            <a:avLst/>
          </a:prstGeom>
          <a:noFill/>
        </p:spPr>
        <p:txBody>
          <a:bodyPr wrap="square" lIns="0" rIns="0" tIns="0" bIns="0">
            <a:spAutoFit/>
          </a:bodyPr>
          <a:lstStyle/>
          <a:p>
            <a:pPr algn="l">
              <a:lnSpc>
                <a:spcPct val="112000"/>
              </a:lnSpc>
              <a:spcAft>
                <a:spcPts val="400"/>
              </a:spcAft>
            </a:pPr>
            <a:r>
              <a:rPr sz="1500" b="0" i="0">
                <a:solidFill>
                  <a:srgbClr val="1C1B1A"/>
                </a:solidFill>
                <a:latin typeface="IBM Plex Sans"/>
              </a:rPr>
              <a:t>Jeihan Ilham Kusumawardhana — 221524042</a:t>
            </a:r>
          </a:p>
          <a:p>
            <a:pPr algn="l">
              <a:lnSpc>
                <a:spcPct val="112000"/>
              </a:lnSpc>
              <a:spcAft>
                <a:spcPts val="400"/>
              </a:spcAft>
            </a:pPr>
            <a:r>
              <a:rPr sz="1500" b="0" i="0">
                <a:solidFill>
                  <a:srgbClr val="1C1B1A"/>
                </a:solidFill>
                <a:latin typeface="IBM Plex Sans"/>
              </a:rPr>
              <a:t>Sidang Tugas Akhir · Tipe TA: Riset (Experiment tools)</a:t>
            </a:r>
          </a:p>
          <a:p>
            <a:pPr algn="l">
              <a:lnSpc>
                <a:spcPct val="112000"/>
              </a:lnSpc>
              <a:spcAft>
                <a:spcPts val="400"/>
              </a:spcAft>
            </a:pPr>
            <a:r>
              <a:rPr sz="1300" b="0" i="0">
                <a:solidFill>
                  <a:srgbClr val="6B675F"/>
                </a:solidFill>
                <a:latin typeface="IBM Plex Sans"/>
              </a:rPr>
              <a:t>Program Sarjana Terapan Teknik Informatika · Jurusan Teknik Komputer dan Informatika · Politeknik Negeri Bandung · 2026</a:t>
            </a:r>
          </a:p>
        </p:txBody>
      </p:sp>
      <p:sp>
        <p:nvSpPr>
          <p:cNvPr id="5" name="TextBox 4"/>
          <p:cNvSpPr txBox="1"/>
          <p:nvPr/>
        </p:nvSpPr>
        <p:spPr>
          <a:xfrm>
            <a:off x="731520" y="5989320"/>
            <a:ext cx="10728655" cy="365760"/>
          </a:xfrm>
          <a:prstGeom prst="rect">
            <a:avLst/>
          </a:prstGeom>
          <a:noFill/>
        </p:spPr>
        <p:txBody>
          <a:bodyPr wrap="square" lIns="0" rIns="0" tIns="0" bIns="0">
            <a:spAutoFit/>
          </a:bodyPr>
          <a:lstStyle/>
          <a:p>
            <a:pPr algn="l">
              <a:lnSpc>
                <a:spcPct val="112000"/>
              </a:lnSpc>
              <a:spcAft>
                <a:spcPts val="0"/>
              </a:spcAft>
            </a:pPr>
            <a:r>
              <a:rPr sz="1200" b="0" i="1">
                <a:solidFill>
                  <a:srgbClr val="6B675F"/>
                </a:solidFill>
                <a:latin typeface="IBM Plex Sans"/>
              </a:rPr>
              <a:t>Pembimbing: [VERIFY: nama &amp; NIP Pembimbing I dan II]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KASUS NYATA — BAB I §I.1 &amp; §I.5</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PT Ganesha Digital Solusi: satu sumber data deteksi, kebutuhan klien yang heterogen.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Dashboard web: </a:t>
            </a:r>
            <a:r>
              <a:rPr sz="1700" b="0" i="0">
                <a:solidFill>
                  <a:srgbClr val="1C1B1A"/>
                </a:solidFill>
                <a:latin typeface="IBM Plex Sans"/>
              </a:rPr>
              <a:t>membutuhkan data deteksi visual utuh.</a:t>
            </a:r>
          </a:p>
          <a:p>
            <a:pPr algn="l">
              <a:lnSpc>
                <a:spcPct val="112000"/>
              </a:lnSpc>
              <a:spcAft>
                <a:spcPts val="1000"/>
              </a:spcAft>
            </a:pPr>
            <a:r>
              <a:rPr sz="1700" b="0" i="0">
                <a:solidFill>
                  <a:srgbClr val="1C1B1A"/>
                </a:solidFill>
                <a:latin typeface="IBM Plex Sans SmBld"/>
              </a:rPr>
              <a:t>Aplikasi mobile / IoT: </a:t>
            </a:r>
            <a:r>
              <a:rPr sz="1700" b="0" i="0">
                <a:solidFill>
                  <a:srgbClr val="1C1B1A"/>
                </a:solidFill>
                <a:latin typeface="IBM Plex Sans"/>
              </a:rPr>
              <a:t>membutuhkan efisiensi kuota — hanya ringkasan; hemat bandwidth dan baterai.</a:t>
            </a:r>
          </a:p>
          <a:p>
            <a:pPr algn="l">
              <a:lnSpc>
                <a:spcPct val="112000"/>
              </a:lnSpc>
              <a:spcAft>
                <a:spcPts val="1000"/>
              </a:spcAft>
            </a:pPr>
            <a:r>
              <a:rPr sz="1700" b="0" i="0">
                <a:solidFill>
                  <a:srgbClr val="1C1B1A"/>
                </a:solidFill>
                <a:latin typeface="IBM Plex Sans SmBld"/>
              </a:rPr>
              <a:t>Yang dipertaruhkan mitra: </a:t>
            </a:r>
            <a:r>
              <a:rPr sz="1700" b="0" i="0">
                <a:solidFill>
                  <a:srgbClr val="1C1B1A"/>
                </a:solidFill>
                <a:latin typeface="IBM Plex Sans"/>
              </a:rPr>
              <a:t>efisiensi maintenance endpoint API dan optimalisasi bandwidth, tanpa mengorbankan stabilitas server pada high concurrency.</a:t>
            </a:r>
          </a:p>
          <a:p>
            <a:pPr algn="l">
              <a:lnSpc>
                <a:spcPct val="112000"/>
              </a:lnSpc>
              <a:spcAft>
                <a:spcPts val="1000"/>
              </a:spcAft>
            </a:pPr>
            <a:r>
              <a:rPr sz="1700" b="0" i="0">
                <a:solidFill>
                  <a:srgbClr val="1C1B1A"/>
                </a:solidFill>
                <a:latin typeface="IBM Plex Sans SmBld"/>
              </a:rPr>
              <a:t>Leher botolnya di penyajian: </a:t>
            </a:r>
            <a:r>
              <a:rPr sz="1700" b="0" i="0">
                <a:solidFill>
                  <a:srgbClr val="1C1B1A"/>
                </a:solidFill>
                <a:latin typeface="IBM Plex Sans"/>
              </a:rPr>
              <a:t>penyajian data yang lambat menggerus manfaat inferensi real-time meski akurasi model tinggi.</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Produk akhir untuk mitra: matriks rekomendasi arsitektural + blueprint pemilihan protokol API bagi tim backend engineer.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DASAR TEORI — BAB II §II.2</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Dua paradigma penyajian: REST kaku per-endpoint, GraphQL fleksibel per-field — dan fleksibilitas itu tidak gratis.</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REST (Fielding, 2000): </a:t>
            </a:r>
            <a:r>
              <a:rPr sz="1700" b="0" i="0">
                <a:solidFill>
                  <a:srgbClr val="1C1B1A"/>
                </a:solidFill>
                <a:latin typeface="IBM Plex Sans"/>
              </a:rPr>
              <a:t>gaya arsitektur berbasis resource dengan struktur respons kaku → over-fetching (data tak dibutuhkan ikut terkirim) atau under-fetching (klien memanggil banyak endpoint; pola N+1).</a:t>
            </a:r>
          </a:p>
          <a:p>
            <a:pPr algn="l">
              <a:lnSpc>
                <a:spcPct val="112000"/>
              </a:lnSpc>
              <a:spcAft>
                <a:spcPts val="1000"/>
              </a:spcAft>
            </a:pPr>
            <a:r>
              <a:rPr sz="1700" b="0" i="0">
                <a:solidFill>
                  <a:srgbClr val="1C1B1A"/>
                </a:solidFill>
                <a:latin typeface="IBM Plex Sans SmBld"/>
              </a:rPr>
              <a:t>GraphQL: </a:t>
            </a:r>
            <a:r>
              <a:rPr sz="1700" b="0" i="0">
                <a:solidFill>
                  <a:srgbClr val="1C1B1A"/>
                </a:solidFill>
                <a:latin typeface="IBM Plex Sans"/>
              </a:rPr>
              <a:t>query language + runtime; klien menentukan field yang dibutuhkan dalam satu permintaan (declarative data fetching).</a:t>
            </a:r>
          </a:p>
          <a:p>
            <a:pPr algn="l">
              <a:lnSpc>
                <a:spcPct val="112000"/>
              </a:lnSpc>
              <a:spcAft>
                <a:spcPts val="1000"/>
              </a:spcAft>
            </a:pPr>
            <a:r>
              <a:rPr sz="1700" b="0" i="0">
                <a:solidFill>
                  <a:srgbClr val="1C1B1A"/>
                </a:solidFill>
                <a:latin typeface="IBM Plex Sans SmBld"/>
              </a:rPr>
              <a:t>Biaya di sisi server: </a:t>
            </a:r>
            <a:r>
              <a:rPr sz="1700" b="0" i="0">
                <a:solidFill>
                  <a:srgbClr val="1C1B1A"/>
                </a:solidFill>
                <a:latin typeface="IBM Plex Sans"/>
              </a:rPr>
              <a:t>setiap field diproses resolver — jumlah field, kedalaman relasi, dan jumlah objek menentukan beban; dan default POST GraphQL tidak cacheable secara HTTP.</a:t>
            </a:r>
          </a:p>
          <a:p>
            <a:pPr algn="l">
              <a:lnSpc>
                <a:spcPct val="112000"/>
              </a:lnSpc>
              <a:spcAft>
                <a:spcPts val="1000"/>
              </a:spcAft>
            </a:pPr>
            <a:r>
              <a:rPr sz="1700" b="0" i="0">
                <a:solidFill>
                  <a:srgbClr val="1C1B1A"/>
                </a:solidFill>
                <a:latin typeface="IBM Plex Sans SmBld"/>
              </a:rPr>
              <a:t>Konsekuensi: </a:t>
            </a:r>
            <a:r>
              <a:rPr sz="1700" b="0" i="0">
                <a:solidFill>
                  <a:srgbClr val="1C1B1A"/>
                </a:solidFill>
                <a:latin typeface="IBM Plex Sans"/>
              </a:rPr>
              <a:t>perbandingan keduanya harus dievaluasi secara empiris per skenario kebutuhan data — bukan diklaim universal.</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Rujukan: Fielding, 2000 · Brito et al., 2019 · Brito &amp; Valente, 2020 · Hartig &amp; Pérez, 2018 · Elghazal et al.,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MASALAH — BAB I §I.2 · BAB II §II.4</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Kesenjangan: belum ada perbandingan yang fair pada payload deteksi objek.</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a:rPr>
              <a:t>“Belum ada studi yang membandingkan REST API dan GraphQL pada payload deteksi objek dengan caching, pola akses, dan bobot payload dikontrol secara eksplisit sebagai variabel bebas, menggunakan sumber data dan jalur akses data yang sama bagi kedua protokol.”</a:t>
            </a:r>
          </a:p>
          <a:p>
            <a:pPr algn="l">
              <a:lnSpc>
                <a:spcPct val="112000"/>
              </a:lnSpc>
              <a:spcAft>
                <a:spcPts val="1000"/>
              </a:spcAft>
            </a:pPr>
            <a:r>
              <a:rPr sz="1400" b="0" i="0">
                <a:solidFill>
                  <a:srgbClr val="1C1B1A"/>
                </a:solidFill>
                <a:latin typeface="IBM Plex Sans SmBld"/>
              </a:rPr>
              <a:t>Studi terdahulu: </a:t>
            </a:r>
            <a:r>
              <a:rPr sz="1400" b="0" i="0">
                <a:solidFill>
                  <a:srgbClr val="1C1B1A"/>
                </a:solidFill>
                <a:latin typeface="IBM Plex Sans"/>
              </a:rPr>
              <a:t>memakai data relasional generik; latensi tercampur I/O basis data; caching jarang dikontrol.</a:t>
            </a:r>
          </a:p>
          <a:p>
            <a:pPr algn="l">
              <a:lnSpc>
                <a:spcPct val="112000"/>
              </a:lnSpc>
              <a:spcAft>
                <a:spcPts val="1000"/>
              </a:spcAft>
            </a:pPr>
            <a:r>
              <a:rPr sz="1400" b="0" i="0">
                <a:solidFill>
                  <a:srgbClr val="1C1B1A"/>
                </a:solidFill>
                <a:latin typeface="IBM Plex Sans SmBld"/>
              </a:rPr>
              <a:t>Literatur VDBMS: </a:t>
            </a:r>
            <a:r>
              <a:rPr sz="1400" b="0" i="0">
                <a:solidFill>
                  <a:srgbClr val="1C1B1A"/>
                </a:solidFill>
                <a:latin typeface="IBM Plex Sans"/>
              </a:rPr>
              <a:t>fokus pada optimasi internal engine; bagaimana hasil query visual didistribusikan ke klien melalui protokol delivery web API tidak dibahas.</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Kalimat kesenjangan direproduksi verbatim dari Bab II §II.4. Rujukan: Brito et al., 2019 · Lawi et al., 2021 · Stępień &amp; Skublewska-Paszkowska,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SOLUSI YANG DIUSULKAN — BAB II §II.4</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Bekukan inferensi, samakan jalur data, kontrol caching — sehingga selisih yang terukur hanya berasal dari protokol.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YOLO26 sebagai black-box: </a:t>
            </a:r>
            <a:r>
              <a:rPr sz="1700" b="0" i="0">
                <a:solidFill>
                  <a:srgbClr val="1C1B1A"/>
                </a:solidFill>
                <a:latin typeface="IBM Plex Sans"/>
              </a:rPr>
              <a:t>inference engine deterministik; hasil deteksi &amp; tracking dibekukan ke korpus relasional SQLite secara luring, sebelum eksperimen berjalan.</a:t>
            </a:r>
          </a:p>
          <a:p>
            <a:pPr algn="l">
              <a:lnSpc>
                <a:spcPct val="112000"/>
              </a:lnSpc>
              <a:spcAft>
                <a:spcPts val="1000"/>
              </a:spcAft>
            </a:pPr>
            <a:r>
              <a:rPr sz="1700" b="0" i="0">
                <a:solidFill>
                  <a:srgbClr val="1C1B1A"/>
                </a:solidFill>
                <a:latin typeface="IBM Plex Sans SmBld"/>
              </a:rPr>
              <a:t>Jalur data identik: </a:t>
            </a:r>
            <a:r>
              <a:rPr sz="1700" b="0" i="0">
                <a:solidFill>
                  <a:srgbClr val="1C1B1A"/>
                </a:solidFill>
                <a:latin typeface="IBM Plex Sans"/>
              </a:rPr>
              <a:t>REST dan GraphQL membaca sumber data yang sama melalui shared data-access layer.</a:t>
            </a:r>
          </a:p>
          <a:p>
            <a:pPr algn="l">
              <a:lnSpc>
                <a:spcPct val="112000"/>
              </a:lnSpc>
              <a:spcAft>
                <a:spcPts val="1000"/>
              </a:spcAft>
            </a:pPr>
            <a:r>
              <a:rPr sz="1700" b="0" i="0">
                <a:solidFill>
                  <a:srgbClr val="1C1B1A"/>
                </a:solidFill>
                <a:latin typeface="IBM Plex Sans SmBld"/>
              </a:rPr>
              <a:t>Yang divariasikan: </a:t>
            </a:r>
            <a:r>
              <a:rPr sz="1700" b="0" i="0">
                <a:solidFill>
                  <a:srgbClr val="1C1B1A"/>
                </a:solidFill>
                <a:latin typeface="IBM Plex Sans"/>
              </a:rPr>
              <a:t>caching, pola akses, entropi query, dan bobot payload sebagai variabel bebas eksperimen utama.</a:t>
            </a:r>
          </a:p>
          <a:p>
            <a:pPr algn="l">
              <a:lnSpc>
                <a:spcPct val="112000"/>
              </a:lnSpc>
              <a:spcAft>
                <a:spcPts val="1000"/>
              </a:spcAft>
            </a:pPr>
            <a:r>
              <a:rPr sz="1700" b="0" i="0">
                <a:solidFill>
                  <a:srgbClr val="1C1B1A"/>
                </a:solidFill>
                <a:latin typeface="IBM Plex Sans SmBld"/>
              </a:rPr>
              <a:t>Jaminan atribusi: </a:t>
            </a:r>
            <a:r>
              <a:rPr sz="1700" b="0" i="0">
                <a:solidFill>
                  <a:srgbClr val="1C1B1A"/>
                </a:solidFill>
                <a:latin typeface="IBM Plex Sans"/>
              </a:rPr>
              <a:t>setiap perbedaan metrik dapat ditelusuri ke karakteristik arsitektural protokol (over-fetching REST / resolver traversal overhead GraphQL) serta interaksinya dengan caching — bukan ke perbedaan jalur akses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RESEARCH QUESTION — BAB I §I.3.1</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Tiga pertanyaan penelitian (verbatim dari laporan).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350" b="0" i="0">
                <a:solidFill>
                  <a:srgbClr val="1C1B1A"/>
                </a:solidFill>
                <a:latin typeface="IBM Plex Sans"/>
              </a:rPr>
              <a:t>RQ1. Bagaimana perbedaan kinerja dasar—response time, throughput, dan penggunaan sumber daya (CPU dan memori)—antara REST API dan GraphQL ketika keduanya menyajikan data hasil deteksi objek dari sumber data dan jalur akses data yang identik, tanpa manfaat caching?</a:t>
            </a:r>
          </a:p>
          <a:p>
            <a:pPr algn="l">
              <a:lnSpc>
                <a:spcPct val="112000"/>
              </a:lnSpc>
              <a:spcAft>
                <a:spcPts val="1000"/>
              </a:spcAft>
            </a:pPr>
            <a:r>
              <a:rPr sz="1350" b="0" i="0">
                <a:solidFill>
                  <a:srgbClr val="1C1B1A"/>
                </a:solidFill>
                <a:latin typeface="IBM Plex Sans"/>
              </a:rPr>
              <a:t>RQ2. Bagaimana pengaruh caching, pola akses data, entropi bentuk query, bobot payload, dan konsolidasi round-trip terhadap selisih kinerja (latency, cache-hit rate, dan efisiensi transfer data) antara REST API dan GraphQL?</a:t>
            </a:r>
          </a:p>
          <a:p>
            <a:pPr algn="l">
              <a:lnSpc>
                <a:spcPct val="112000"/>
              </a:lnSpc>
              <a:spcAft>
                <a:spcPts val="1000"/>
              </a:spcAft>
            </a:pPr>
            <a:r>
              <a:rPr sz="1350" b="0" i="0">
                <a:solidFill>
                  <a:srgbClr val="1C1B1A"/>
                </a:solidFill>
                <a:latin typeface="IBM Plex Sans"/>
              </a:rPr>
              <a:t>RQ3. Pada kombinasi kondisi apa REST API tetap lebih unggul, dan pada kondisi apa GraphQL mendekati atau menyamai REST API (titik crossover), sehingga dapat disusun matriks rekomendasi arsitektural pemilihan protokol?</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Teks RQ direproduksi kata-per-kata dari Bab 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HIPOTESIS — BAB I §I.3.2</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Empat hipotesis substantif; H0 per sel: tidak ada perbedaan signifikan (Mann-Whitney U).</a:t>
            </a:r>
          </a:p>
        </p:txBody>
      </p:sp>
      <p:sp>
        <p:nvSpPr>
          <p:cNvPr id="4" name="TextBox 3"/>
          <p:cNvSpPr txBox="1"/>
          <p:nvPr/>
        </p:nvSpPr>
        <p:spPr>
          <a:xfrm>
            <a:off x="731520"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1C1B1A"/>
                </a:solidFill>
                <a:latin typeface="IBM Plex Sans SmBld"/>
              </a:rPr>
              <a:t>H1 · H2</a:t>
            </a:r>
          </a:p>
        </p:txBody>
      </p:sp>
      <p:sp>
        <p:nvSpPr>
          <p:cNvPr id="5" name="Rectangle 4"/>
          <p:cNvSpPr/>
          <p:nvPr/>
        </p:nvSpPr>
        <p:spPr>
          <a:xfrm>
            <a:off x="731520"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62072"/>
            <a:ext cx="5044287" cy="3319272"/>
          </a:xfrm>
          <a:prstGeom prst="rect">
            <a:avLst/>
          </a:prstGeom>
          <a:noFill/>
        </p:spPr>
        <p:txBody>
          <a:bodyPr wrap="square" lIns="0" rIns="0" tIns="0" bIns="0">
            <a:spAutoFit/>
          </a:bodyPr>
          <a:lstStyle/>
          <a:p>
            <a:pPr algn="l">
              <a:lnSpc>
                <a:spcPct val="112000"/>
              </a:lnSpc>
              <a:spcAft>
                <a:spcPts val="800"/>
              </a:spcAft>
            </a:pPr>
            <a:r>
              <a:rPr sz="1250" b="0" i="0">
                <a:solidFill>
                  <a:srgbClr val="1C1B1A"/>
                </a:solidFill>
                <a:latin typeface="IBM Plex Sans"/>
              </a:rPr>
              <a:t>H1. Pada kondisi caching nonaktif dan payload ringan, REST API memiliki latency lebih rendah daripada GraphQL, karena permintaan REST dipetakan langsung ke endpoint tanpa overhead parsing Abstract Syntax Tree (AST) dan resolver traversal. (menjawab RQ1)</a:t>
            </a:r>
          </a:p>
          <a:p>
            <a:pPr algn="l">
              <a:lnSpc>
                <a:spcPct val="112000"/>
              </a:lnSpc>
              <a:spcAft>
                <a:spcPts val="800"/>
              </a:spcAft>
            </a:pPr>
            <a:r>
              <a:rPr sz="1250" b="0" i="0">
                <a:solidFill>
                  <a:srgbClr val="1C1B1A"/>
                </a:solidFill>
                <a:latin typeface="IBM Plex Sans"/>
              </a:rPr>
              <a:t>H2. Pada kondisi caching aktif dengan pola akses berulang (zipfian), selisih latency antara REST API dan GraphQL mengecil, karena respons dari cache mengurangi kerja origin server pada kedua protokol. (menjawab RQ2)</a:t>
            </a:r>
          </a:p>
        </p:txBody>
      </p:sp>
      <p:sp>
        <p:nvSpPr>
          <p:cNvPr id="7" name="TextBox 6"/>
          <p:cNvSpPr txBox="1"/>
          <p:nvPr/>
        </p:nvSpPr>
        <p:spPr>
          <a:xfrm>
            <a:off x="6415887"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1C1B1A"/>
                </a:solidFill>
                <a:latin typeface="IBM Plex Sans SmBld"/>
              </a:rPr>
              <a:t>H3 · H4</a:t>
            </a:r>
          </a:p>
        </p:txBody>
      </p:sp>
      <p:sp>
        <p:nvSpPr>
          <p:cNvPr id="8" name="Rectangle 7"/>
          <p:cNvSpPr/>
          <p:nvPr/>
        </p:nvSpPr>
        <p:spPr>
          <a:xfrm>
            <a:off x="6415887"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2862072"/>
            <a:ext cx="5044287" cy="3319272"/>
          </a:xfrm>
          <a:prstGeom prst="rect">
            <a:avLst/>
          </a:prstGeom>
          <a:noFill/>
        </p:spPr>
        <p:txBody>
          <a:bodyPr wrap="square" lIns="0" rIns="0" tIns="0" bIns="0">
            <a:spAutoFit/>
          </a:bodyPr>
          <a:lstStyle/>
          <a:p>
            <a:pPr algn="l">
              <a:lnSpc>
                <a:spcPct val="112000"/>
              </a:lnSpc>
              <a:spcAft>
                <a:spcPts val="800"/>
              </a:spcAft>
            </a:pPr>
            <a:r>
              <a:rPr sz="1250" b="0" i="0">
                <a:solidFill>
                  <a:srgbClr val="1C1B1A"/>
                </a:solidFill>
                <a:latin typeface="IBM Plex Sans"/>
              </a:rPr>
              <a:t>H3. Entropi bentuk query yang lebih tinggi menurunkan cache-hit rate, dan penurunan ini lebih menekan GraphQL karena variasi selection set menghasilkan cache key (hash Automatic Persisted Queries) yang berbeda-beda. (menjawab RQ2)</a:t>
            </a:r>
          </a:p>
          <a:p>
            <a:pPr algn="l">
              <a:lnSpc>
                <a:spcPct val="112000"/>
              </a:lnSpc>
              <a:spcAft>
                <a:spcPts val="800"/>
              </a:spcAft>
            </a:pPr>
            <a:r>
              <a:rPr sz="1250" b="0" i="0">
                <a:solidFill>
                  <a:srgbClr val="1C1B1A"/>
                </a:solidFill>
                <a:latin typeface="IBM Plex Sans"/>
              </a:rPr>
              <a:t>H4. Bobot payload yang lebih berat (trajectory objek lintas frame) memperbesar selisih kinerja antara REST API dan GraphQL, karena biaya resolusi dan serialisasi bertambah seiring jumlah objek dan titik data yang harus dirakit server. (menjawab RQ2 dan RQ3)</a:t>
            </a:r>
          </a:p>
        </p:txBody>
      </p:sp>
      <p:sp>
        <p:nvSpPr>
          <p:cNvPr id="10" name="TextBox 9"/>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Teks H1–H4 direproduksi kata-per-kata dari Bab 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TUJUAN PENELITIAN — BAB I §I.4</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Dua tujuan (verbatim dari laporan).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1. </a:t>
            </a:r>
            <a:r>
              <a:rPr sz="1400" b="0" i="0">
                <a:solidFill>
                  <a:srgbClr val="1C1B1A"/>
                </a:solidFill>
                <a:latin typeface="IBM Plex Sans"/>
              </a:rPr>
              <a:t>Menentukan kondisi caching, pola akses, dan bobot payload yang membuat REST API atau GraphQL paling optimal sebagai delivery layer pada pipeline inferensi computer vision, untuk meningkatkan efisiensi payload dan cache-hit rate pada aplikasi klien yang memiliki batasan bandwidth dan resource.</a:t>
            </a:r>
          </a:p>
          <a:p>
            <a:pPr algn="l">
              <a:lnSpc>
                <a:spcPct val="112000"/>
              </a:lnSpc>
              <a:spcAft>
                <a:spcPts val="1000"/>
              </a:spcAft>
            </a:pPr>
            <a:r>
              <a:rPr sz="1400" b="0" i="0">
                <a:solidFill>
                  <a:srgbClr val="1C1B1A"/>
                </a:solidFill>
                <a:latin typeface="IBM Plex Sans SmBld"/>
              </a:rPr>
              <a:t>2. </a:t>
            </a:r>
            <a:r>
              <a:rPr sz="1400" b="0" i="0">
                <a:solidFill>
                  <a:srgbClr val="1C1B1A"/>
                </a:solidFill>
                <a:latin typeface="IBM Plex Sans"/>
              </a:rPr>
              <a:t>Menghasilkan matriks rekomendasi arsitektural berbasis empiris yang memetakan trade-off antara efisiensi caching, penghematan bandwidth, dan compute overhead di sisi server, untuk mencegah bottleneck komputasi pada sistem serving AI berskala industri saat menghadapi variasi pola akses dan concurrent load.</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Teks tujuan direproduksi kata-per-kata dari Bab I §I.4.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VARIABEL PENELITIAN — BAB III §III.2</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Satu variabel bebas utama, enam metrik terikat, empat kelompok kontrol fairness.</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Variabel bebas: </a:t>
            </a:r>
            <a:r>
              <a:rPr sz="1400" b="0" i="0">
                <a:solidFill>
                  <a:srgbClr val="1C1B1A"/>
                </a:solidFill>
                <a:latin typeface="IBM Plex Sans"/>
              </a:rPr>
              <a:t>jenis pendekatan API — REST (FastAPI; berbasis resource, routing statis) vs GraphQL (Strawberry; declarative data fetching, resolver traversal); eksperimen utama menambah caching, pola akses, entropi query, dan bobot payload.</a:t>
            </a:r>
          </a:p>
          <a:p>
            <a:pPr algn="l">
              <a:lnSpc>
                <a:spcPct val="112000"/>
              </a:lnSpc>
              <a:spcAft>
                <a:spcPts val="1000"/>
              </a:spcAft>
            </a:pPr>
            <a:r>
              <a:rPr sz="1400" b="0" i="0">
                <a:solidFill>
                  <a:srgbClr val="1C1B1A"/>
                </a:solidFill>
                <a:latin typeface="IBM Plex Sans SmBld"/>
              </a:rPr>
              <a:t>Variabel terikat: </a:t>
            </a:r>
            <a:r>
              <a:rPr sz="1400" b="0" i="0">
                <a:solidFill>
                  <a:srgbClr val="1C1B1A"/>
                </a:solidFill>
                <a:latin typeface="IBM Plex Sans"/>
              </a:rPr>
              <a:t>latency (p50/p95/p99), throughput, payload size, cache-hit rate, CPU usage, memory usage.</a:t>
            </a:r>
          </a:p>
          <a:p>
            <a:pPr algn="l">
              <a:lnSpc>
                <a:spcPct val="112000"/>
              </a:lnSpc>
              <a:spcAft>
                <a:spcPts val="1000"/>
              </a:spcAft>
            </a:pPr>
            <a:r>
              <a:rPr sz="1400" b="0" i="0">
                <a:solidFill>
                  <a:srgbClr val="1C1B1A"/>
                </a:solidFill>
                <a:latin typeface="IBM Plex Sans SmBld"/>
              </a:rPr>
              <a:t>Variabel kontrol: </a:t>
            </a:r>
            <a:r>
              <a:rPr sz="1400" b="0" i="0">
                <a:solidFill>
                  <a:srgbClr val="1C1B1A"/>
                </a:solidFill>
                <a:latin typeface="IBM Plex Sans"/>
              </a:rPr>
              <a:t>mesin inferensi beku (YOLO26 NMS-free, deterministik); shared DetectionDAL di atas SQLite; header cache dari satu fungsi shared + APQ-over-GET; isolasi cgroup/netns, HTTP/1.1 tanpa kompresi, 1 worker.</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Kaitan antar variabel: Gambar III.1 di laporan; p95 dipilih untuk menangkap long-tail latency (Crankshaw dkk., 2017).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DATASET — BAB I §DUKUNGAN DATA · BAB III §III.3</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Satu pipeline luring membekukan korpus: 7 sequence · 2.846 image · 5.429 track · 104.767 detection.</a:t>
            </a:r>
          </a:p>
        </p:txBody>
      </p:sp>
      <p:pic>
        <p:nvPicPr>
          <p:cNvPr id="4" name="Picture 3" descr="pipeline.png"/>
          <p:cNvPicPr>
            <a:picLocks noChangeAspect="1"/>
          </p:cNvPicPr>
          <p:nvPr/>
        </p:nvPicPr>
        <p:blipFill>
          <a:blip r:embed="rId2"/>
          <a:stretch>
            <a:fillRect/>
          </a:stretch>
        </p:blipFill>
        <p:spPr>
          <a:xfrm>
            <a:off x="1896121" y="2240280"/>
            <a:ext cx="8399451" cy="23774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VisDrone-MOT dipilih karena densitas objek tinggi &amp; bervariasi + anotasi track lintas frame (payload heavy natural). Stratifikasi tier berbasis kuartil: 579 / 1.555 / 712 citra. Parameter lengkap: Lampiran A–B.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PERANGKAT PENDUKUNG — BAB III §III.5</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Perangkat lunak &amp; alat pengujian (Tabel III.3–III.4).</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Komponen               Versi             Peran</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Ubuntu Linux (VM KVM)  kernel 6.8.0-124  netns, netem, systemd-run (cgroup)</a:t>
            </a:r>
          </a:p>
          <a:p>
            <a:pPr algn="l">
              <a:lnSpc>
                <a:spcPct val="112000"/>
              </a:lnSpc>
              <a:spcAft>
                <a:spcPts val="300"/>
              </a:spcAft>
            </a:pPr>
            <a:r>
              <a:rPr sz="1250" b="0" i="0">
                <a:solidFill>
                  <a:srgbClr val="1C1B1A"/>
                </a:solidFill>
                <a:latin typeface="IBM Plex Mono"/>
              </a:rPr>
              <a:t>Python                 3.12.3            bahasa implementasi APE</a:t>
            </a:r>
          </a:p>
          <a:p>
            <a:pPr algn="l">
              <a:lnSpc>
                <a:spcPct val="112000"/>
              </a:lnSpc>
              <a:spcAft>
                <a:spcPts val="300"/>
              </a:spcAft>
            </a:pPr>
            <a:r>
              <a:rPr sz="1250" b="0" i="0">
                <a:solidFill>
                  <a:srgbClr val="1C1B1A"/>
                </a:solidFill>
                <a:latin typeface="IBM Plex Mono"/>
              </a:rPr>
              <a:t>YOLO26 (Ultralytics)   terkini           inference engine NMS-free</a:t>
            </a:r>
          </a:p>
          <a:p>
            <a:pPr algn="l">
              <a:lnSpc>
                <a:spcPct val="112000"/>
              </a:lnSpc>
              <a:spcAft>
                <a:spcPts val="300"/>
              </a:spcAft>
            </a:pPr>
            <a:r>
              <a:rPr sz="1250" b="0" i="0">
                <a:solidFill>
                  <a:srgbClr val="1C1B1A"/>
                </a:solidFill>
                <a:latin typeface="IBM Plex Mono"/>
              </a:rPr>
              <a:t>FastAPI                0.137.2           framework REST API</a:t>
            </a:r>
          </a:p>
          <a:p>
            <a:pPr algn="l">
              <a:lnSpc>
                <a:spcPct val="112000"/>
              </a:lnSpc>
              <a:spcAft>
                <a:spcPts val="300"/>
              </a:spcAft>
            </a:pPr>
            <a:r>
              <a:rPr sz="1250" b="0" i="0">
                <a:solidFill>
                  <a:srgbClr val="1C1B1A"/>
                </a:solidFill>
                <a:latin typeface="IBM Plex Mono"/>
              </a:rPr>
              <a:t>Strawberry GraphQL     0.317.2           library GraphQL</a:t>
            </a:r>
          </a:p>
          <a:p>
            <a:pPr algn="l">
              <a:lnSpc>
                <a:spcPct val="112000"/>
              </a:lnSpc>
              <a:spcAft>
                <a:spcPts val="300"/>
              </a:spcAft>
            </a:pPr>
            <a:r>
              <a:rPr sz="1250" b="0" i="0">
                <a:solidFill>
                  <a:srgbClr val="1C1B1A"/>
                </a:solidFill>
                <a:latin typeface="IBM Plex Mono"/>
              </a:rPr>
              <a:t>Grafana k6             2.0.0             load testing (P95, throughput)</a:t>
            </a:r>
          </a:p>
          <a:p>
            <a:pPr algn="l">
              <a:lnSpc>
                <a:spcPct val="112000"/>
              </a:lnSpc>
              <a:spcAft>
                <a:spcPts val="300"/>
              </a:spcAft>
            </a:pPr>
            <a:r>
              <a:rPr sz="1250" b="0" i="0">
                <a:solidFill>
                  <a:srgbClr val="1C1B1A"/>
                </a:solidFill>
                <a:latin typeface="IBM Plex Mono"/>
              </a:rPr>
              <a:t>psutil                 7.2.2             polling CPU &amp; memori</a:t>
            </a:r>
          </a:p>
          <a:p>
            <a:pPr algn="l">
              <a:lnSpc>
                <a:spcPct val="112000"/>
              </a:lnSpc>
              <a:spcAft>
                <a:spcPts val="300"/>
              </a:spcAft>
            </a:pPr>
            <a:r>
              <a:rPr sz="1250" b="0" i="0">
                <a:solidFill>
                  <a:srgbClr val="1C1B1A"/>
                </a:solidFill>
                <a:latin typeface="IBM Plex Mono"/>
              </a:rPr>
              <a:t>Varnish                —                 cache layer / reverse proxy (VCL)</a:t>
            </a:r>
          </a:p>
          <a:p>
            <a:pPr algn="l">
              <a:lnSpc>
                <a:spcPct val="112000"/>
              </a:lnSpc>
              <a:spcAft>
                <a:spcPts val="300"/>
              </a:spcAft>
            </a:pPr>
            <a:r>
              <a:rPr sz="1250" b="0" i="0">
                <a:solidFill>
                  <a:srgbClr val="1C1B1A"/>
                </a:solidFill>
                <a:latin typeface="IBM Plex Mono"/>
              </a:rPr>
              <a:t>Network namespace      —                 profil lan / constrained via netem</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Versi persis kolom 'Versi' Tabel III.4; Varnish &amp; netns tidak diberi nomor versi di tabel laporan (ditulis apa adanya).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KONTRIBUSI — BAB I §I.5 · BAB VII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Kontribusi utama: metodologi benchmark yang adil beserta instrumen APE yang dapat direplikasi — bukan semata angka perbandingan.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Produk akhir: </a:t>
            </a:r>
            <a:r>
              <a:rPr sz="1700" b="0" i="0">
                <a:solidFill>
                  <a:srgbClr val="1C1B1A"/>
                </a:solidFill>
                <a:latin typeface="IBM Plex Sans"/>
              </a:rPr>
              <a:t>matriks rekomendasi arsitektural dan blueprint pemilihan protokol API yang memetakan trade-off efisiensi transfer data vs utilisasi resource server, beserta validasi arsitektur pengujian yang mengisolasi bottleneck basis data.</a:t>
            </a:r>
          </a:p>
          <a:p>
            <a:pPr algn="l">
              <a:lnSpc>
                <a:spcPct val="112000"/>
              </a:lnSpc>
              <a:spcAft>
                <a:spcPts val="1000"/>
              </a:spcAft>
            </a:pPr>
            <a:r>
              <a:rPr sz="1700" b="0" i="0">
                <a:solidFill>
                  <a:srgbClr val="1C1B1A"/>
                </a:solidFill>
                <a:latin typeface="IBM Plex Sans SmBld"/>
              </a:rPr>
              <a:t>Untuk praktisi ML serving: </a:t>
            </a:r>
            <a:r>
              <a:rPr sz="1700" b="0" i="0">
                <a:solidFill>
                  <a:srgbClr val="1C1B1A"/>
                </a:solidFill>
                <a:latin typeface="IBM Plex Sans"/>
              </a:rPr>
              <a:t>kepastian teknis mengenai kondisi densitas objek dan tingkat concurrency di mana fleksibilitas GraphQL mulai membebani compute overhead server dibandingkan REST.</a:t>
            </a:r>
          </a:p>
          <a:p>
            <a:pPr algn="l">
              <a:lnSpc>
                <a:spcPct val="112000"/>
              </a:lnSpc>
              <a:spcAft>
                <a:spcPts val="1000"/>
              </a:spcAft>
            </a:pPr>
            <a:r>
              <a:rPr sz="1700" b="0" i="0">
                <a:solidFill>
                  <a:srgbClr val="1C1B1A"/>
                </a:solidFill>
                <a:latin typeface="IBM Plex Sans SmBld"/>
              </a:rPr>
              <a:t>Untuk peneliti: </a:t>
            </a:r>
            <a:r>
              <a:rPr sz="1700" b="0" i="0">
                <a:solidFill>
                  <a:srgbClr val="1C1B1A"/>
                </a:solidFill>
                <a:latin typeface="IBM Plex Sans"/>
              </a:rPr>
              <a:t>instrumen APE — shared data-access layer + cache layer identik untuk kedua protokol — sebagai acuan desain eksperimen yang lebih fair pada payload nested khas computer vision.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TAHAPAN PENELITIAN — BAB III §III.4</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Tujuh fase berurutan, dirancang untuk validitas, reliabilitas, dan keterulangan (reproducibility).</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Fase 1–3: </a:t>
            </a:r>
            <a:r>
              <a:rPr sz="1700" b="0" i="0">
                <a:solidFill>
                  <a:srgbClr val="1C1B1A"/>
                </a:solidFill>
                <a:latin typeface="IBM Plex Sans"/>
              </a:rPr>
              <a:t>studi literatur → identifikasi masalah → perancangan penelitian.</a:t>
            </a:r>
          </a:p>
          <a:p>
            <a:pPr algn="l">
              <a:lnSpc>
                <a:spcPct val="112000"/>
              </a:lnSpc>
              <a:spcAft>
                <a:spcPts val="1000"/>
              </a:spcAft>
            </a:pPr>
            <a:r>
              <a:rPr sz="1700" b="0" i="0">
                <a:solidFill>
                  <a:srgbClr val="1C1B1A"/>
                </a:solidFill>
                <a:latin typeface="IBM Plex Sans SmBld"/>
              </a:rPr>
              <a:t>Fase 4: </a:t>
            </a:r>
            <a:r>
              <a:rPr sz="1700" b="0" i="0">
                <a:solidFill>
                  <a:srgbClr val="1C1B1A"/>
                </a:solidFill>
                <a:latin typeface="IBM Plex Sans"/>
              </a:rPr>
              <a:t>pembangunan aplikasi pendukung eksperimen (APE) — instrumen fairness dua-protokol.</a:t>
            </a:r>
          </a:p>
          <a:p>
            <a:pPr algn="l">
              <a:lnSpc>
                <a:spcPct val="112000"/>
              </a:lnSpc>
              <a:spcAft>
                <a:spcPts val="1000"/>
              </a:spcAft>
            </a:pPr>
            <a:r>
              <a:rPr sz="1700" b="0" i="0">
                <a:solidFill>
                  <a:srgbClr val="1C1B1A"/>
                </a:solidFill>
                <a:latin typeface="IBM Plex Sans SmBld"/>
              </a:rPr>
              <a:t>Fase 5–7: </a:t>
            </a:r>
            <a:r>
              <a:rPr sz="1700" b="0" i="0">
                <a:solidFill>
                  <a:srgbClr val="1C1B1A"/>
                </a:solidFill>
                <a:latin typeface="IBM Plex Sans"/>
              </a:rPr>
              <a:t>pelaksanaan eksperimen → analisis data eksperimen → penyimpulan eksperimen.</a:t>
            </a:r>
          </a:p>
          <a:p>
            <a:pPr algn="l">
              <a:lnSpc>
                <a:spcPct val="112000"/>
              </a:lnSpc>
              <a:spcAft>
                <a:spcPts val="1000"/>
              </a:spcAft>
            </a:pPr>
            <a:r>
              <a:rPr sz="1700" b="0" i="0">
                <a:solidFill>
                  <a:srgbClr val="1C1B1A"/>
                </a:solidFill>
                <a:latin typeface="IBM Plex Sans SmBld"/>
              </a:rPr>
              <a:t>Kontrak per fase: </a:t>
            </a:r>
            <a:r>
              <a:rPr sz="1700" b="0" i="0">
                <a:solidFill>
                  <a:srgbClr val="1C1B1A"/>
                </a:solidFill>
                <a:latin typeface="IBM Plex Sans"/>
              </a:rPr>
              <a:t>setiap fase memiliki luaran spesifik untuk mengisolasi variabel bebas secara ketat.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RUANG LINGKUP &amp; BATASAN — BAB I §I.7</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Perubahan scope terdokumentasi: uji pendahuluan in-memory (DET) → eksperimen utama korpus MOT relasional.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Keputusan metodologis (Batasan, verbatim inti): </a:t>
            </a:r>
            <a:r>
              <a:rPr sz="1700" b="0" i="0">
                <a:solidFill>
                  <a:srgbClr val="1C1B1A"/>
                </a:solidFill>
                <a:latin typeface="IBM Plex Sans"/>
              </a:rPr>
              <a:t>SQLite mot_detections.db + shared DAL “menggantikan rancangan uji pendahuluan yang sebelumnya tidak menggunakan basis data (in-memory data pool), karena rancangan tersebut tidak dapat merepresentasikan kondisi caching maupun pola akses data yang realistis.”</a:t>
            </a:r>
          </a:p>
          <a:p>
            <a:pPr algn="l">
              <a:lnSpc>
                <a:spcPct val="112000"/>
              </a:lnSpc>
              <a:spcAft>
                <a:spcPts val="1000"/>
              </a:spcAft>
            </a:pPr>
            <a:r>
              <a:rPr sz="1700" b="0" i="0">
                <a:solidFill>
                  <a:srgbClr val="1C1B1A"/>
                </a:solidFill>
                <a:latin typeface="IBM Plex Sans SmBld"/>
              </a:rPr>
              <a:t>Mengapa VisDrone-MOT (bukan DET): </a:t>
            </a:r>
            <a:r>
              <a:rPr sz="1700" b="0" i="0">
                <a:solidFill>
                  <a:srgbClr val="1C1B1A"/>
                </a:solidFill>
                <a:latin typeface="IBM Plex Sans"/>
              </a:rPr>
              <a:t>anotasi track lintas frame membentuk payload berat (heavy) secara natural, bukan disimulasikan.</a:t>
            </a:r>
          </a:p>
          <a:p>
            <a:pPr algn="l">
              <a:lnSpc>
                <a:spcPct val="112000"/>
              </a:lnSpc>
              <a:spcAft>
                <a:spcPts val="1000"/>
              </a:spcAft>
            </a:pPr>
            <a:r>
              <a:rPr sz="1700" b="0" i="0">
                <a:solidFill>
                  <a:srgbClr val="1C1B1A"/>
                </a:solidFill>
                <a:latin typeface="IBM Plex Sans SmBld"/>
              </a:rPr>
              <a:t>Batasan lain: </a:t>
            </a:r>
            <a:r>
              <a:rPr sz="1700" b="0" i="0">
                <a:solidFill>
                  <a:srgbClr val="1C1B1A"/>
                </a:solidFill>
                <a:latin typeface="IBM Plex Sans"/>
              </a:rPr>
              <a:t>akurasi (mAP) bukan variabel; hanya REST &amp; GraphQL; API read-only tanpa autentikasi; jaringan lan/constrained via netem.</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Audit migrasi scope terdokumentasi: laporan/phase2_migration/DRAFT_AUDIT_PHASE2.md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INSTRUMEN APE — BAB IV</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Fairness by construction: kedua protokol melewati jalur data, header cache, dan lingkungan yang identik — dibuktikan, bukan diasumsikan.</a:t>
            </a:r>
          </a:p>
        </p:txBody>
      </p:sp>
      <p:pic>
        <p:nvPicPr>
          <p:cNvPr id="4" name="Picture 3" descr="architecture.png"/>
          <p:cNvPicPr>
            <a:picLocks noChangeAspect="1"/>
          </p:cNvPicPr>
          <p:nvPr/>
        </p:nvPicPr>
        <p:blipFill>
          <a:blip r:embed="rId2"/>
          <a:stretch>
            <a:fillRect/>
          </a:stretch>
        </p:blipFill>
        <p:spPr>
          <a:xfrm>
            <a:off x="2104264" y="2240280"/>
            <a:ext cx="7983166" cy="30632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Acceptance test A1 (paritas deep-equal) · A2 (diff SQL, APE_LOG_SQL) · A3 (fairness cache Varnish nyata) — lolos; APQ-over-GET membuat GraphQL cacheable setara REST.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DESAIN EKSPERIMEN — BAB III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Dua korpus saling melengkapi: 3.240 run skenario MOT + 720 run grid caching; dianalisis non-parametrik per sel.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Studi skenario MOT (RQ1 + RQ2 round-trip): </a:t>
            </a:r>
            <a:r>
              <a:rPr sz="1400" b="0" i="0">
                <a:solidFill>
                  <a:srgbClr val="1C1B1A"/>
                </a:solidFill>
                <a:latin typeface="IBM Plex Sans"/>
              </a:rPr>
              <a:t>2 protokol × 6 skenario (M1–M6) × 3 tier × 3 laju × 30 run = 3.240 run terukur; laju dikalibrasi 40/80/120% dari ceiling protokol terendah; r120_overload dianalisis terpisah.</a:t>
            </a:r>
          </a:p>
          <a:p>
            <a:pPr algn="l">
              <a:lnSpc>
                <a:spcPct val="112000"/>
              </a:lnSpc>
              <a:spcAft>
                <a:spcPts val="1000"/>
              </a:spcAft>
            </a:pPr>
            <a:r>
              <a:rPr sz="1400" b="0" i="0">
                <a:solidFill>
                  <a:srgbClr val="1C1B1A"/>
                </a:solidFill>
                <a:latin typeface="IBM Plex Sans SmBld"/>
              </a:rPr>
              <a:t>Grid inti caching (RQ2 caching + RQ3): </a:t>
            </a:r>
            <a:r>
              <a:rPr sz="1400" b="0" i="0">
                <a:solidFill>
                  <a:srgbClr val="1C1B1A"/>
                </a:solidFill>
                <a:latin typeface="IBM Plex Sans"/>
              </a:rPr>
              <a:t>2 × 2 caching × 3 pola akses × 2 bobot payload = 24 blok × 30 run = 720 run (phase2-core-real; serial penuh).</a:t>
            </a:r>
          </a:p>
          <a:p>
            <a:pPr algn="l">
              <a:lnSpc>
                <a:spcPct val="112000"/>
              </a:lnSpc>
              <a:spcAft>
                <a:spcPts val="1000"/>
              </a:spcAft>
            </a:pPr>
            <a:r>
              <a:rPr sz="1400" b="0" i="0">
                <a:solidFill>
                  <a:srgbClr val="1C1B1A"/>
                </a:solidFill>
                <a:latin typeface="IBM Plex Sans SmBld"/>
              </a:rPr>
              <a:t>Analisis: </a:t>
            </a:r>
            <a:r>
              <a:rPr sz="1400" b="0" i="0">
                <a:solidFill>
                  <a:srgbClr val="1C1B1A"/>
                </a:solidFill>
                <a:latin typeface="IBM Plex Sans"/>
              </a:rPr>
              <a:t>Shapiro-Wilk → Mann-Whitney U per sel + effect size rank-biserial ≡ Cliff's δ (δ&lt;0 = REST unggul) → koreksi Holm per keluarga metrik; bermakna hanya jika p&lt;0,05 DAN magnitudo ≥ sedang.</a:t>
            </a:r>
          </a:p>
          <a:p>
            <a:pPr algn="l">
              <a:lnSpc>
                <a:spcPct val="112000"/>
              </a:lnSpc>
              <a:spcAft>
                <a:spcPts val="1000"/>
              </a:spcAft>
            </a:pPr>
            <a:r>
              <a:rPr sz="1400" b="0" i="0">
                <a:solidFill>
                  <a:srgbClr val="1C1B1A"/>
                </a:solidFill>
                <a:latin typeface="IBM Plex Sans SmBld"/>
              </a:rPr>
              <a:t>Protokol run: </a:t>
            </a:r>
            <a:r>
              <a:rPr sz="1400" b="0" i="0">
                <a:solidFill>
                  <a:srgbClr val="1C1B1A"/>
                </a:solidFill>
                <a:latin typeface="IBM Plex Sans"/>
              </a:rPr>
              <a:t>1 warm-up dibuang + 30 run terukur 90 s per sel; open-loop constant-arrival-rate; seed 42.</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Rincian grid, kalibrasi ceiling, dan formulasi statistik: Lampiran C–F.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RQ1 — MOT-SCENARIOS-CORE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REST unggul di seluruh 36/36 sel M1–M4 dengan pemisahan sempurna (δ = −1,00): +51% s.d. +141% pada r80.</a:t>
            </a:r>
          </a:p>
        </p:txBody>
      </p:sp>
      <p:pic>
        <p:nvPicPr>
          <p:cNvPr id="4" name="Picture 3" descr="rq1_dumbbell.png"/>
          <p:cNvPicPr>
            <a:picLocks noChangeAspect="1"/>
          </p:cNvPicPr>
          <p:nvPr/>
        </p:nvPicPr>
        <p:blipFill>
          <a:blip r:embed="rId2"/>
          <a:stretch>
            <a:fillRect/>
          </a:stretch>
        </p:blipFill>
        <p:spPr>
          <a:xfrm>
            <a:off x="2887561" y="2240280"/>
            <a:ext cx="6416571"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Contoh sel terpadat M1·high r80: REST 8,70 ms vs GraphQL 20,94 ms. Mendukung H1.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RQ1 — MOT-SCENARIOS-CORE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Densitas objek — bukan laju kedatangan — yang memperlebar selisih: biaya GraphQL bersifat per-objek-terserialisasi.</a:t>
            </a:r>
          </a:p>
        </p:txBody>
      </p:sp>
      <p:pic>
        <p:nvPicPr>
          <p:cNvPr id="4" name="Picture 3" descr="density_maineffect.png"/>
          <p:cNvPicPr>
            <a:picLocks noChangeAspect="1"/>
          </p:cNvPicPr>
          <p:nvPr/>
        </p:nvPicPr>
        <p:blipFill>
          <a:blip r:embed="rId2"/>
          <a:stretch>
            <a:fillRect/>
          </a:stretch>
        </p:blipFill>
        <p:spPr>
          <a:xfrm>
            <a:off x="2441456" y="2240280"/>
            <a:ext cx="7308783" cy="310896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Median p50 low→high: GraphQL 12,3→15,5 ms vs REST 7,2→8,2 ms; laju sub-saturasi hampir tak menggeser selisih.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RQ1 — MOT-SCENARIOS-CORE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Keunggulan latensi REST tidak dibayar di tempat lain: GraphQL memakai ±4× CPU untuk kerja yang sama.</a:t>
            </a:r>
          </a:p>
        </p:txBody>
      </p:sp>
      <p:pic>
        <p:nvPicPr>
          <p:cNvPr id="4" name="Picture 3" descr="cpu_dumbbell.png"/>
          <p:cNvPicPr>
            <a:picLocks noChangeAspect="1"/>
          </p:cNvPicPr>
          <p:nvPr/>
        </p:nvPicPr>
        <p:blipFill>
          <a:blip r:embed="rId2"/>
          <a:stretch>
            <a:fillRect/>
          </a:stretch>
        </p:blipFill>
        <p:spPr>
          <a:xfrm>
            <a:off x="2887561" y="2240280"/>
            <a:ext cx="6416571"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M1·high r80: CPU REST 17,96% vs GraphQL 79,45% (≈4,4×) — biaya parsing kueri, validasi skema, resolver traversal. Tervalidasi ulang di grid caching (Tabel L.2, phase2-core-clean).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RQ1 — OVERLOAD R120</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Saat laju melampaui titik jenuh, GraphQL kolaps lebih dulu — dua orde besaran di atas REST pada laju yang sama.</a:t>
            </a:r>
          </a:p>
        </p:txBody>
      </p:sp>
      <p:sp>
        <p:nvSpPr>
          <p:cNvPr id="4" name="TextBox 3"/>
          <p:cNvSpPr txBox="1"/>
          <p:nvPr/>
        </p:nvSpPr>
        <p:spPr>
          <a:xfrm>
            <a:off x="731520" y="2606040"/>
            <a:ext cx="5120640" cy="2651760"/>
          </a:xfrm>
          <a:prstGeom prst="rect">
            <a:avLst/>
          </a:prstGeom>
          <a:noFill/>
        </p:spPr>
        <p:txBody>
          <a:bodyPr wrap="square" lIns="0" rIns="0" tIns="0" bIns="0">
            <a:spAutoFit/>
          </a:bodyPr>
          <a:lstStyle/>
          <a:p>
            <a:pPr algn="l">
              <a:lnSpc>
                <a:spcPct val="95000"/>
              </a:lnSpc>
              <a:spcAft>
                <a:spcPts val="200"/>
              </a:spcAft>
            </a:pPr>
            <a:r>
              <a:rPr sz="7600" b="0" i="0">
                <a:solidFill>
                  <a:srgbClr val="C2317E"/>
                </a:solidFill>
                <a:latin typeface="IBM Plex Sans SmBld"/>
              </a:rPr>
              <a:t>6.725 ms</a:t>
            </a:r>
          </a:p>
          <a:p>
            <a:pPr algn="l">
              <a:lnSpc>
                <a:spcPct val="112000"/>
              </a:lnSpc>
              <a:spcAft>
                <a:spcPts val="0"/>
              </a:spcAft>
            </a:pPr>
            <a:r>
              <a:rPr sz="1400" b="0" i="0">
                <a:solidFill>
                  <a:srgbClr val="6B675F"/>
                </a:solidFill>
                <a:latin typeface="IBM Plex Sans"/>
              </a:rPr>
              <a:t>median p50 GraphQL — M1·high pada r120 (74 iter/s)</a:t>
            </a:r>
          </a:p>
        </p:txBody>
      </p:sp>
      <p:sp>
        <p:nvSpPr>
          <p:cNvPr id="5" name="TextBox 4"/>
          <p:cNvSpPr txBox="1"/>
          <p:nvPr/>
        </p:nvSpPr>
        <p:spPr>
          <a:xfrm>
            <a:off x="6217920" y="2606040"/>
            <a:ext cx="5120640" cy="2651760"/>
          </a:xfrm>
          <a:prstGeom prst="rect">
            <a:avLst/>
          </a:prstGeom>
          <a:noFill/>
        </p:spPr>
        <p:txBody>
          <a:bodyPr wrap="square" lIns="0" rIns="0" tIns="0" bIns="0">
            <a:spAutoFit/>
          </a:bodyPr>
          <a:lstStyle/>
          <a:p>
            <a:pPr algn="l">
              <a:lnSpc>
                <a:spcPct val="95000"/>
              </a:lnSpc>
              <a:spcAft>
                <a:spcPts val="200"/>
              </a:spcAft>
            </a:pPr>
            <a:r>
              <a:rPr sz="7600" b="0" i="0">
                <a:solidFill>
                  <a:srgbClr val="2F6FB2"/>
                </a:solidFill>
                <a:latin typeface="IBM Plex Sans SmBld"/>
              </a:rPr>
              <a:t>8,64 ms</a:t>
            </a:r>
          </a:p>
          <a:p>
            <a:pPr algn="l">
              <a:lnSpc>
                <a:spcPct val="112000"/>
              </a:lnSpc>
              <a:spcAft>
                <a:spcPts val="0"/>
              </a:spcAft>
            </a:pPr>
            <a:r>
              <a:rPr sz="1400" b="0" i="0">
                <a:solidFill>
                  <a:srgbClr val="6B675F"/>
                </a:solidFill>
                <a:latin typeface="IBM Plex Sans"/>
              </a:rPr>
              <a:t>median p50 REST — sel dan laju yang sama</a:t>
            </a:r>
          </a:p>
        </p:txBody>
      </p:sp>
      <p:sp>
        <p:nvSpPr>
          <p:cNvPr id="6" name="TextBox 5"/>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Baris r120_overload dianalisis terpisah, tidak pernah digabung dengan r40/r80 (protokol kalibrasi).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DUA KLAIM POPULER — TIDAK TERBUKTI DI SINI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Anti-over-fetching GraphQL tidak terbukti pada API yang dirancang setara — dan selisih throughput tidak bermakna praktis.</a:t>
            </a:r>
          </a:p>
        </p:txBody>
      </p:sp>
      <p:sp>
        <p:nvSpPr>
          <p:cNvPr id="4" name="TextBox 3"/>
          <p:cNvSpPr txBox="1"/>
          <p:nvPr/>
        </p:nvSpPr>
        <p:spPr>
          <a:xfrm>
            <a:off x="731520" y="2331720"/>
            <a:ext cx="3566160"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Payload: </a:t>
            </a:r>
            <a:r>
              <a:rPr sz="1400" b="0" i="0">
                <a:solidFill>
                  <a:srgbClr val="1C1B1A"/>
                </a:solidFill>
                <a:latin typeface="IBM Plex Sans"/>
              </a:rPr>
              <a:t>rasio median GraphQL÷REST 1,04; selisih ±30 byte = amplop {"data":…}; REST lebih kecil di 46/48 sel factorial-A.</a:t>
            </a:r>
          </a:p>
          <a:p>
            <a:pPr algn="l">
              <a:lnSpc>
                <a:spcPct val="112000"/>
              </a:lnSpc>
              <a:spcAft>
                <a:spcPts val="1000"/>
              </a:spcAft>
            </a:pPr>
            <a:r>
              <a:rPr sz="1400" b="0" i="0">
                <a:solidFill>
                  <a:srgbClr val="1C1B1A"/>
                </a:solidFill>
                <a:latin typeface="IBM Plex Sans SmBld"/>
              </a:rPr>
              <a:t>Throughput: </a:t>
            </a:r>
            <a:r>
              <a:rPr sz="1400" b="0" i="0">
                <a:solidFill>
                  <a:srgbClr val="1C1B1A"/>
                </a:solidFill>
                <a:latin typeface="IBM Plex Sans"/>
              </a:rPr>
              <a:t>selisih median &lt; 0,03% pada sel sebanding (39 sel) — padahal δ latensi terkunci −1,00: signifikansi statistik ≠ signifikansi praktis.</a:t>
            </a:r>
          </a:p>
        </p:txBody>
      </p:sp>
      <p:pic>
        <p:nvPicPr>
          <p:cNvPr id="5" name="Picture 4" descr="overfetch.png"/>
          <p:cNvPicPr>
            <a:picLocks noChangeAspect="1"/>
          </p:cNvPicPr>
          <p:nvPr/>
        </p:nvPicPr>
        <p:blipFill>
          <a:blip r:embed="rId2"/>
          <a:stretch>
            <a:fillRect/>
          </a:stretch>
        </p:blipFill>
        <p:spPr>
          <a:xfrm>
            <a:off x="4836254" y="2240280"/>
            <a:ext cx="6405386" cy="3977640"/>
          </a:xfrm>
          <a:prstGeom prst="rect">
            <a:avLst/>
          </a:prstGeom>
        </p:spPr>
      </p:pic>
      <p:sp>
        <p:nvSpPr>
          <p:cNvPr id="6" name="TextBox 5"/>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Alasan memakai Cliff's δ + median, bukan p-value semata.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RQ2 — KONSOLIDASI ROUND-TRIP (M5)</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Menghemat satu round-trip belum membalik keadaan: GraphQL hanya seri di jendela terkecil, kalah saat jendela membesar.</a:t>
            </a:r>
          </a:p>
        </p:txBody>
      </p:sp>
      <p:pic>
        <p:nvPicPr>
          <p:cNvPr id="4" name="Picture 3" descr="m5_window.png"/>
          <p:cNvPicPr>
            <a:picLocks noChangeAspect="1"/>
          </p:cNvPicPr>
          <p:nvPr/>
        </p:nvPicPr>
        <p:blipFill>
          <a:blip r:embed="rId2"/>
          <a:stretch>
            <a:fillRect/>
          </a:stretch>
        </p:blipFill>
        <p:spPr>
          <a:xfrm>
            <a:off x="2958773" y="2240280"/>
            <a:ext cx="6274147"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w2: 14,73 vs 14,79 ms (satu-satunya sel imbang sejati; δ +0,32; selisih 0,1 ms) · w23: 20,07 vs 15,67 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RQ2 — CROSSOVER PAGINASI (M6) ★</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Pemenang berbalik di fan-out: titik impas K* ≈ 2, dan pada K ≥ 5 GraphQL menang penuh.</a:t>
            </a:r>
          </a:p>
        </p:txBody>
      </p:sp>
      <p:pic>
        <p:nvPicPr>
          <p:cNvPr id="4" name="Picture 3" descr="m6_crossover.png"/>
          <p:cNvPicPr>
            <a:picLocks noChangeAspect="1"/>
          </p:cNvPicPr>
          <p:nvPr/>
        </p:nvPicPr>
        <p:blipFill>
          <a:blip r:embed="rId2"/>
          <a:stretch>
            <a:fillRect/>
          </a:stretch>
        </p:blipFill>
        <p:spPr>
          <a:xfrm>
            <a:off x="2806801" y="2240280"/>
            <a:ext cx="6578093"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K=1: 7,75 vs 14,33 · K=5: 36,57 vs 16,88 · K=10: 75,13 vs 19,86 ms (REST vs GraphQL). Satu-satunya kelas skenario di mana GraphQL konsisten mengungguli REST.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RQ2 — MEKANISME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Mengapa berbalik? Bukan karena GraphQL lebih cepat per-permintaan — REST membayar K perjalanan bolak-balik.</a:t>
            </a:r>
          </a:p>
        </p:txBody>
      </p:sp>
      <p:pic>
        <p:nvPicPr>
          <p:cNvPr id="4" name="Picture 3" descr="mechanism_roundtrip.png"/>
          <p:cNvPicPr>
            <a:picLocks noChangeAspect="1"/>
          </p:cNvPicPr>
          <p:nvPr/>
        </p:nvPicPr>
        <p:blipFill>
          <a:blip r:embed="rId2"/>
          <a:stretch>
            <a:fillRect/>
          </a:stretch>
        </p:blipFill>
        <p:spPr>
          <a:xfrm>
            <a:off x="3012861" y="2240280"/>
            <a:ext cx="6165972"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Ekonomi round-trip murni: keunggulan fan-out tinggi bersumber dari penghematan K−1 round-trip, bukan kecepatan per-permintaan.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RQ2 — PETA PEMENANG M5–M6</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Satu peta merangkum semua: hanya M6 K ≥ 5 yang merah penuh; satu sel imbang sejati (M5·w2·r40).</a:t>
            </a:r>
          </a:p>
        </p:txBody>
      </p:sp>
      <p:pic>
        <p:nvPicPr>
          <p:cNvPr id="4" name="Picture 3" descr="heatmap_page.png"/>
          <p:cNvPicPr>
            <a:picLocks noChangeAspect="1"/>
          </p:cNvPicPr>
          <p:nvPr/>
        </p:nvPicPr>
        <p:blipFill>
          <a:blip r:embed="rId2"/>
          <a:stretch>
            <a:fillRect/>
          </a:stretch>
        </p:blipFill>
        <p:spPr>
          <a:xfrm>
            <a:off x="3194391" y="2240280"/>
            <a:ext cx="5802912"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Signed Cliff's δ page latency per sel tier × laju.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RQ3 — CACHING (PHASE2-CORE-REAL)</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Lapisan cache adil — dan manfaatnya asimetris: lebih besar bagi GraphQL, bersyarat pola akses berulang.</a:t>
            </a:r>
          </a:p>
        </p:txBody>
      </p:sp>
      <p:sp>
        <p:nvSpPr>
          <p:cNvPr id="4" name="TextBox 3"/>
          <p:cNvSpPr txBox="1"/>
          <p:nvPr/>
        </p:nvSpPr>
        <p:spPr>
          <a:xfrm>
            <a:off x="731520" y="2331720"/>
            <a:ext cx="3566160"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Fairness (N4): </a:t>
            </a:r>
            <a:r>
              <a:rPr sz="1400" b="0" i="0">
                <a:solidFill>
                  <a:srgbClr val="1C1B1A"/>
                </a:solidFill>
                <a:latin typeface="IBM Plex Sans"/>
              </a:rPr>
              <a:t>hit rate zipfian·light REST 0,43 vs GraphQL 0,42 — ditentukan pola akses, bukan protokol; unique = 0,00.</a:t>
            </a:r>
          </a:p>
          <a:p>
            <a:pPr algn="l">
              <a:lnSpc>
                <a:spcPct val="112000"/>
              </a:lnSpc>
              <a:spcAft>
                <a:spcPts val="1000"/>
              </a:spcAft>
            </a:pPr>
            <a:r>
              <a:rPr sz="1400" b="0" i="0">
                <a:solidFill>
                  <a:srgbClr val="1C1B1A"/>
                </a:solidFill>
                <a:latin typeface="IBM Plex Sans SmBld"/>
              </a:rPr>
              <a:t>Asimetri: </a:t>
            </a:r>
            <a:r>
              <a:rPr sz="1400" b="0" i="0">
                <a:solidFill>
                  <a:srgbClr val="1C1B1A"/>
                </a:solidFill>
                <a:latin typeface="IBM Plex Sans"/>
              </a:rPr>
              <a:t>zipfian·light: GraphQL −3,09 ms (34,91→31,82) vs REST −0,41 ms (28,45→28,04) — tiap hit menghindari kerja origin GraphQL yang lebih mahal.</a:t>
            </a:r>
          </a:p>
          <a:p>
            <a:pPr algn="l">
              <a:lnSpc>
                <a:spcPct val="112000"/>
              </a:lnSpc>
              <a:spcAft>
                <a:spcPts val="1000"/>
              </a:spcAft>
            </a:pPr>
            <a:r>
              <a:rPr sz="1400" b="0" i="0">
                <a:solidFill>
                  <a:srgbClr val="1C1B1A"/>
                </a:solidFill>
                <a:latin typeface="IBM Plex Sans SmBld"/>
              </a:rPr>
              <a:t>Syarat: </a:t>
            </a:r>
            <a:r>
              <a:rPr sz="1400" b="0" i="0">
                <a:solidFill>
                  <a:srgbClr val="1C1B1A"/>
                </a:solidFill>
                <a:latin typeface="IBM Plex Sans"/>
              </a:rPr>
              <a:t>pola uniform (reuse rendah): overhead proxy justru +0,68 s.d. +0,99 ms. H2 didukung sebagian.</a:t>
            </a:r>
          </a:p>
        </p:txBody>
      </p:sp>
      <p:pic>
        <p:nvPicPr>
          <p:cNvPr id="5" name="Picture 4" descr="cache_delta.png"/>
          <p:cNvPicPr>
            <a:picLocks noChangeAspect="1"/>
          </p:cNvPicPr>
          <p:nvPr/>
        </p:nvPicPr>
        <p:blipFill>
          <a:blip r:embed="rId2"/>
          <a:stretch>
            <a:fillRect/>
          </a:stretch>
        </p:blipFill>
        <p:spPr>
          <a:xfrm>
            <a:off x="4617720" y="2240280"/>
            <a:ext cx="6842455" cy="3521430"/>
          </a:xfrm>
          <a:prstGeom prst="rect">
            <a:avLst/>
          </a:prstGeom>
        </p:spPr>
      </p:pic>
      <p:sp>
        <p:nvSpPr>
          <p:cNvPr id="6" name="TextBox 5"/>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APQ-over-GET menyetarakan cacheability GraphQL dengan REST.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HASIL RQ3 — GRID CACHING 24 BLOK</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Tidak ada satu pun kombinasi caching × pola akses × payload yang membalik pemenang latensi: REST δ = −1,00 di 12/12 blok.</a:t>
            </a:r>
          </a:p>
        </p:txBody>
      </p:sp>
      <p:pic>
        <p:nvPicPr>
          <p:cNvPr id="4" name="Picture 3" descr="heatmap_cache.png"/>
          <p:cNvPicPr>
            <a:picLocks noChangeAspect="1"/>
          </p:cNvPicPr>
          <p:nvPr/>
        </p:nvPicPr>
        <p:blipFill>
          <a:blip r:embed="rId2"/>
          <a:stretch>
            <a:fillRect/>
          </a:stretch>
        </p:blipFill>
        <p:spPr>
          <a:xfrm>
            <a:off x="4063863" y="2240280"/>
            <a:ext cx="4063967" cy="388620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δ hit-rate −0,22…+0,13 (≈0: cache adil antar-protokol); caching mempersempit, tidak menghapus, selisih.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VALIDITAS — BAB V</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Dua insiden ditemukan, diisolasi, dan diperbaiki — kontrol kualitas data, bukan kecelakaan yang dibiarkan.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run-sesi-1 (uji pendahuluan): </a:t>
            </a:r>
            <a:r>
              <a:rPr sz="1400" b="0" i="0">
                <a:solidFill>
                  <a:srgbClr val="1C1B1A"/>
                </a:solidFill>
                <a:latin typeface="IBM Plex Sans"/>
              </a:rPr>
              <a:t>345.879 error serialisasi in-band GraphQL (HTTP 200 → tak terlihat error_rate) → sesi DIDEMOSI; diganti factorial-A (2.880 run, audit bersih); guard permanen: k6 body-check “no graphql errors”.</a:t>
            </a:r>
          </a:p>
          <a:p>
            <a:pPr algn="l">
              <a:lnSpc>
                <a:spcPct val="112000"/>
              </a:lnSpc>
              <a:spcAft>
                <a:spcPts val="1000"/>
              </a:spcAft>
            </a:pPr>
            <a:r>
              <a:rPr sz="1400" b="0" i="0">
                <a:solidFill>
                  <a:srgbClr val="1C1B1A"/>
                </a:solidFill>
                <a:latin typeface="IBM Plex Sans SmBld"/>
              </a:rPr>
              <a:t>Grid caching phase2: </a:t>
            </a:r>
            <a:r>
              <a:rPr sz="1400" b="0" i="0">
                <a:solidFill>
                  <a:srgbClr val="1C1B1A"/>
                </a:solidFill>
                <a:latin typeface="IBM Plex Sans"/>
              </a:rPr>
              <a:t>92,6% baris sesi phase2 lain terkumpul saat 2–8 sesi paralel → RQ3 memakai HANYA phase2-core-real (720 run, serial penuh).</a:t>
            </a:r>
          </a:p>
          <a:p>
            <a:pPr algn="l">
              <a:lnSpc>
                <a:spcPct val="112000"/>
              </a:lnSpc>
              <a:spcAft>
                <a:spcPts val="1000"/>
              </a:spcAft>
            </a:pPr>
            <a:r>
              <a:rPr sz="1400" b="0" i="0">
                <a:solidFill>
                  <a:srgbClr val="1C1B1A"/>
                </a:solidFill>
                <a:latin typeface="IBM Plex Sans SmBld"/>
              </a:rPr>
              <a:t>Telemetri CPU/RSS: </a:t>
            </a:r>
            <a:r>
              <a:rPr sz="1400" b="0" i="0">
                <a:solidFill>
                  <a:srgbClr val="1C1B1A"/>
                </a:solidFill>
                <a:latin typeface="IBM Plex Sans"/>
              </a:rPr>
              <a:t>sampler sempat memantau PID pembungkus → diperbaiki sebelum studi MOT; re-run phase2-core-clean mereplikasi 12/12 blok (δ −1,00; pergeseran median ≤0,25 ms).</a:t>
            </a:r>
          </a:p>
          <a:p>
            <a:pPr algn="l">
              <a:lnSpc>
                <a:spcPct val="112000"/>
              </a:lnSpc>
              <a:spcAft>
                <a:spcPts val="1000"/>
              </a:spcAft>
            </a:pPr>
            <a:r>
              <a:rPr sz="1400" b="0" i="0">
                <a:solidFill>
                  <a:srgbClr val="1C1B1A"/>
                </a:solidFill>
                <a:latin typeface="IBM Plex Sans SmBld"/>
              </a:rPr>
              <a:t>Ancaman lain (diakui): </a:t>
            </a:r>
            <a:r>
              <a:rPr sz="1400" b="0" i="0">
                <a:solidFill>
                  <a:srgbClr val="1C1B1A"/>
                </a:solidFill>
                <a:latin typeface="IBM Plex Sans"/>
              </a:rPr>
              <a:t>netem = emulasi, bukan WAN; 1 mesin · 1 stack (FastAPI+Strawberry) · 7 sequence; profil lan vs constrained → dua korpus tak dibandingkan langsung.</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Taksonomi error, timeline kontaminasi, dan audit integritas lengkap: Lampiran 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KESIMPULAN — BAB VII (1:1 DENGAN RQ)</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REST unggul default pada kondisi yang diuji; keunggulan GraphQL struktural dan kondisional; caching mempersempit, tidak menghapus.</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RQ1: </a:t>
            </a:r>
            <a:r>
              <a:rPr sz="1400" b="0" i="0">
                <a:solidFill>
                  <a:srgbClr val="1C1B1A"/>
                </a:solidFill>
                <a:latin typeface="IBM Plex Sans"/>
              </a:rPr>
              <a:t>median latency REST konsisten lebih rendah + CPU jauh lebih kecil (≈4× di sel terpadat) di seluruh M1–M4; selisih melebar seiring densitas; overload menegaskan. H1 didukung.</a:t>
            </a:r>
          </a:p>
          <a:p>
            <a:pPr algn="l">
              <a:lnSpc>
                <a:spcPct val="112000"/>
              </a:lnSpc>
              <a:spcAft>
                <a:spcPts val="1000"/>
              </a:spcAft>
            </a:pPr>
            <a:r>
              <a:rPr sz="1400" b="0" i="0">
                <a:solidFill>
                  <a:srgbClr val="1C1B1A"/>
                </a:solidFill>
                <a:latin typeface="IBM Plex Sans SmBld"/>
              </a:rPr>
              <a:t>RQ2: </a:t>
            </a:r>
            <a:r>
              <a:rPr sz="1400" b="0" i="0">
                <a:solidFill>
                  <a:srgbClr val="1C1B1A"/>
                </a:solidFill>
                <a:latin typeface="IBM Plex Sans"/>
              </a:rPr>
              <a:t>konsolidasi round-trip termonetisasi hanya bila biaya resolusi &lt; penghematan round-trip; pada LAN teremulasi (≈5 ms) crossover cepat: M5 seri di w2, kalah di w23; M6 menang penuh di K≥5 (K*≈2).</a:t>
            </a:r>
          </a:p>
          <a:p>
            <a:pPr algn="l">
              <a:lnSpc>
                <a:spcPct val="112000"/>
              </a:lnSpc>
              <a:spcAft>
                <a:spcPts val="1000"/>
              </a:spcAft>
            </a:pPr>
            <a:r>
              <a:rPr sz="1400" b="0" i="0">
                <a:solidFill>
                  <a:srgbClr val="1C1B1A"/>
                </a:solidFill>
                <a:latin typeface="IBM Plex Sans SmBld"/>
              </a:rPr>
              <a:t>RQ3: </a:t>
            </a:r>
            <a:r>
              <a:rPr sz="1400" b="0" i="0">
                <a:solidFill>
                  <a:srgbClr val="1C1B1A"/>
                </a:solidFill>
                <a:latin typeface="IBM Plex Sans"/>
              </a:rPr>
              <a:t>APQ-over-GET menyetarakan cacheability (hit rate setara); manfaat cache asimetris pro-GraphQL &amp; bersyarat akses berulang. H2 didukung sebagian; H3 konsisten mekanistis; H4: [VERIFY: vonis H4 belum eksplisit di Bab V/VII].</a:t>
            </a:r>
          </a:p>
          <a:p>
            <a:pPr algn="l">
              <a:lnSpc>
                <a:spcPct val="112000"/>
              </a:lnSpc>
              <a:spcAft>
                <a:spcPts val="1000"/>
              </a:spcAft>
            </a:pPr>
            <a:r>
              <a:rPr sz="1400" b="0" i="0">
                <a:solidFill>
                  <a:srgbClr val="1C1B1A"/>
                </a:solidFill>
                <a:latin typeface="IBM Plex Sans SmBld"/>
              </a:rPr>
              <a:t>Kontribusi: </a:t>
            </a:r>
            <a:r>
              <a:rPr sz="1400" b="0" i="0">
                <a:solidFill>
                  <a:srgbClr val="1C1B1A"/>
                </a:solidFill>
                <a:latin typeface="IBM Plex Sans"/>
              </a:rPr>
              <a:t>metodologi benchmark fair + instrumen APE replikabel — hasil scoped, bukan klaim universal.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DEMO</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Instrumen yang menghasilkan seluruh angka pada deck ini — dijalankan langsung.</a:t>
            </a:r>
          </a:p>
        </p:txBody>
      </p:sp>
      <p:sp>
        <p:nvSpPr>
          <p:cNvPr id="4" name="TextBox 3"/>
          <p:cNvSpPr txBox="1"/>
          <p:nvPr/>
        </p:nvSpPr>
        <p:spPr>
          <a:xfrm>
            <a:off x="731520" y="2468880"/>
            <a:ext cx="10728655" cy="2926080"/>
          </a:xfrm>
          <a:prstGeom prst="rect">
            <a:avLst/>
          </a:prstGeom>
          <a:noFill/>
        </p:spPr>
        <p:txBody>
          <a:bodyPr wrap="square" lIns="0" rIns="0" tIns="0" bIns="0">
            <a:spAutoFit/>
          </a:bodyPr>
          <a:lstStyle/>
          <a:p>
            <a:pPr algn="l">
              <a:lnSpc>
                <a:spcPct val="95000"/>
              </a:lnSpc>
              <a:spcAft>
                <a:spcPts val="400"/>
              </a:spcAft>
            </a:pPr>
            <a:r>
              <a:rPr sz="13000" b="0" i="0">
                <a:solidFill>
                  <a:srgbClr val="1C1B1A"/>
                </a:solidFill>
                <a:latin typeface="IBM Plex Sans SmBld"/>
              </a:rPr>
              <a:t>Demo</a:t>
            </a:r>
          </a:p>
          <a:p>
            <a:pPr algn="l">
              <a:lnSpc>
                <a:spcPct val="112000"/>
              </a:lnSpc>
              <a:spcAft>
                <a:spcPts val="0"/>
              </a:spcAft>
            </a:pPr>
            <a:r>
              <a:rPr sz="1400" b="0" i="0">
                <a:solidFill>
                  <a:srgbClr val="6B675F"/>
                </a:solidFill>
                <a:latin typeface="IBM Plex Sans"/>
              </a:rPr>
              <a:t>Alat Pembantu Eksperimen (APE) — REST · GraphQL · shared DetectionDAL · mot_detections.db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SARAN &amp; PENUTUP — BAB VII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Terima kasih — siap menerima pertanyaan.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700" b="0" i="0">
                <a:solidFill>
                  <a:srgbClr val="1C1B1A"/>
                </a:solidFill>
                <a:latin typeface="IBM Plex Sans SmBld"/>
              </a:rPr>
              <a:t>Saran: </a:t>
            </a:r>
            <a:r>
              <a:rPr sz="1700" b="0" i="0">
                <a:solidFill>
                  <a:srgbClr val="1C1B1A"/>
                </a:solidFill>
                <a:latin typeface="IBM Plex Sans"/>
              </a:rPr>
              <a:t>validasi WAN nyata (bukan hanya emulasi netem); pengujian dengan autentikasi/otorisasi; sub-studi trade-off batching GraphQL (APE_GRAPHQL_BATCHING on/off); replikasi pada corpus deteksi objek lain.</a:t>
            </a:r>
          </a:p>
          <a:p>
            <a:pPr algn="l">
              <a:lnSpc>
                <a:spcPct val="112000"/>
              </a:lnSpc>
              <a:spcAft>
                <a:spcPts val="1000"/>
              </a:spcAft>
            </a:pPr>
            <a:r>
              <a:rPr sz="1700" b="0" i="0">
                <a:solidFill>
                  <a:srgbClr val="1C1B1A"/>
                </a:solidFill>
                <a:latin typeface="IBM Plex Sans SmBld"/>
              </a:rPr>
              <a:t>Keberlanjutan: </a:t>
            </a:r>
            <a:r>
              <a:rPr sz="1700" b="0" i="0">
                <a:solidFill>
                  <a:srgbClr val="1C1B1A"/>
                </a:solidFill>
                <a:latin typeface="IBM Plex Sans"/>
              </a:rPr>
              <a:t>paket riset replikabel (dokumentasi + skrip corpus + orkestrator), dashboard hasil, evaluasi rilis corpus turunan sesuai lisensi VisDrone.</a:t>
            </a:r>
          </a:p>
          <a:p>
            <a:pPr algn="l">
              <a:lnSpc>
                <a:spcPct val="112000"/>
              </a:lnSpc>
              <a:spcAft>
                <a:spcPts val="1000"/>
              </a:spcAft>
            </a:pPr>
            <a:r>
              <a:rPr sz="1700" b="0" i="0">
                <a:solidFill>
                  <a:srgbClr val="1C1B1A"/>
                </a:solidFill>
                <a:latin typeface="IBM Plex Sans SmBld"/>
              </a:rPr>
              <a:t>Jeihan Ilham Kusumawardhana — 221524042</a:t>
            </a:r>
            <a:r>
              <a:rPr sz="1700" b="0" i="0">
                <a:solidFill>
                  <a:srgbClr val="1C1B1A"/>
                </a:solidFill>
                <a:latin typeface="IBM Plex Sans"/>
              </a:rPr>
              <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Lampiran menyusul untuk tanya-jawab: parameter lengkap, tabel statistik per RQ, insiden &amp; integritas data, referensi.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1</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Konteks &amp; Latar Belakang</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 · KONTEKS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Latar belakang lengkap: dari inferensi real-time ke lapisan penyajian data.</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Deteksi objek: </a:t>
            </a:r>
            <a:r>
              <a:rPr sz="1400" b="0" i="0">
                <a:solidFill>
                  <a:srgbClr val="1C1B1A"/>
                </a:solidFill>
                <a:latin typeface="IBM Plex Sans"/>
              </a:rPr>
              <a:t>YOLO26 end-to-end bebas NMS — standar industri untuk real-time (Redmon et al. 2016; Sapkota &amp; Karkee 2025); keluaran = metadata nested: class, confidence, bounding box, track (Nieto et al. 2021).</a:t>
            </a:r>
          </a:p>
          <a:p>
            <a:pPr algn="l">
              <a:lnSpc>
                <a:spcPct val="112000"/>
              </a:lnSpc>
              <a:spcAft>
                <a:spcPts val="1000"/>
              </a:spcAft>
            </a:pPr>
            <a:r>
              <a:rPr sz="1400" b="0" i="0">
                <a:solidFill>
                  <a:srgbClr val="1C1B1A"/>
                </a:solidFill>
                <a:latin typeface="IBM Plex Sans SmBld"/>
              </a:rPr>
              <a:t>Masalah penyajian: </a:t>
            </a:r>
            <a:r>
              <a:rPr sz="1400" b="0" i="0">
                <a:solidFill>
                  <a:srgbClr val="1C1B1A"/>
                </a:solidFill>
                <a:latin typeface="IBM Plex Sans"/>
              </a:rPr>
              <a:t>penyajian lambat menggerus manfaat inferensi real-time meski akurasi model tinggi.</a:t>
            </a:r>
          </a:p>
          <a:p>
            <a:pPr algn="l">
              <a:lnSpc>
                <a:spcPct val="112000"/>
              </a:lnSpc>
              <a:spcAft>
                <a:spcPts val="1000"/>
              </a:spcAft>
            </a:pPr>
            <a:r>
              <a:rPr sz="1400" b="0" i="0">
                <a:solidFill>
                  <a:srgbClr val="1C1B1A"/>
                </a:solidFill>
                <a:latin typeface="IBM Plex Sans SmBld"/>
              </a:rPr>
              <a:t>Dua tahap: </a:t>
            </a:r>
            <a:r>
              <a:rPr sz="1400" b="0" i="0">
                <a:solidFill>
                  <a:srgbClr val="1C1B1A"/>
                </a:solidFill>
                <a:latin typeface="IBM Plex Sans"/>
              </a:rPr>
              <a:t>uji pendahuluan in-memory → temuan: tanpa DB tidak realistis &amp; caching belum terkontrol → eksperimen utama corpus relasional + caching sebagai variabel.</a:t>
            </a:r>
          </a:p>
          <a:p>
            <a:pPr algn="l">
              <a:lnSpc>
                <a:spcPct val="112000"/>
              </a:lnSpc>
              <a:spcAft>
                <a:spcPts val="1000"/>
              </a:spcAft>
            </a:pPr>
            <a:r>
              <a:rPr sz="1400" b="0" i="0">
                <a:solidFill>
                  <a:srgbClr val="1C1B1A"/>
                </a:solidFill>
                <a:latin typeface="IBM Plex Sans SmBld"/>
              </a:rPr>
              <a:t>Tujuan: </a:t>
            </a:r>
            <a:r>
              <a:rPr sz="1400" b="0" i="0">
                <a:solidFill>
                  <a:srgbClr val="1C1B1A"/>
                </a:solidFill>
                <a:latin typeface="IBM Plex Sans"/>
              </a:rPr>
              <a:t>kondisi caching/pola akses/bobot payload yang membuat REST atau GraphQL paling optimal + matriks rekomendasi arsitektural berbasis empiris.</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 · KONTEKS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Pivot dua tahap adalah kejujuran metodologis: pilot mengungkap confounder, eksperimen utama memperbaikinya.</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Temuan pilot (Bab V): </a:t>
            </a:r>
            <a:r>
              <a:rPr sz="1400" b="0" i="0">
                <a:solidFill>
                  <a:srgbClr val="1C1B1A"/>
                </a:solidFill>
                <a:latin typeface="IBM Plex Sans"/>
              </a:rPr>
              <a:t>(1) rancangan tanpa basis data tidak merepresentasikan pola akses realistis; (2) caching — pembeda paling signifikan REST vs GraphQL di praktik — belum dikontrol sebagai variabel.</a:t>
            </a:r>
          </a:p>
          <a:p>
            <a:pPr algn="l">
              <a:lnSpc>
                <a:spcPct val="112000"/>
              </a:lnSpc>
              <a:spcAft>
                <a:spcPts val="1000"/>
              </a:spcAft>
            </a:pPr>
            <a:r>
              <a:rPr sz="1400" b="0" i="0">
                <a:solidFill>
                  <a:srgbClr val="1C1B1A"/>
                </a:solidFill>
                <a:latin typeface="IBM Plex Sans SmBld"/>
              </a:rPr>
              <a:t>Audit teknis pilot: </a:t>
            </a:r>
            <a:r>
              <a:rPr sz="1400" b="0" i="0">
                <a:solidFill>
                  <a:srgbClr val="1C1B1A"/>
                </a:solidFill>
                <a:latin typeface="IBM Plex Sans"/>
              </a:rPr>
              <a:t>selisih besar didominasi mode implementasi typed vs passthrough, bukan protokol; bug GraphQL-passthrough &amp; asimetri konstruksi partial ditemukan dan diperbaiki (commit 824b195).</a:t>
            </a:r>
          </a:p>
          <a:p>
            <a:pPr algn="l">
              <a:lnSpc>
                <a:spcPct val="112000"/>
              </a:lnSpc>
              <a:spcAft>
                <a:spcPts val="1000"/>
              </a:spcAft>
            </a:pPr>
            <a:r>
              <a:rPr sz="1400" b="0" i="0">
                <a:solidFill>
                  <a:srgbClr val="1C1B1A"/>
                </a:solidFill>
                <a:latin typeface="IBM Plex Sans SmBld"/>
              </a:rPr>
              <a:t>Posisi pilot: </a:t>
            </a:r>
            <a:r>
              <a:rPr sz="1400" b="0" i="0">
                <a:solidFill>
                  <a:srgbClr val="1C1B1A"/>
                </a:solidFill>
                <a:latin typeface="IBM Plex Sans"/>
              </a:rPr>
              <a:t>kalibrasi instrumen — paritas data terkonfirmasi (A1); tabel latensinya tidak dipakai sebagai hasil.</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 · KONTEKS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Rumusan masalah (verbatim Bab I §I.2).</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300" b="0" i="0">
                <a:solidFill>
                  <a:srgbClr val="1C1B1A"/>
                </a:solidFill>
                <a:latin typeface="IBM Plex Sans"/>
              </a:rPr>
              <a:t>Belum adanya bukti empiris yang membandingkan secara fair kinerja antara arsitektur REST API dan GraphQL dalam menyajikan data deteksi objek ketika kedua protokol menggunakan sumber data, jalur akses data, serta konfigurasi caching yang setara.</a:t>
            </a:r>
          </a:p>
          <a:p>
            <a:pPr algn="l">
              <a:lnSpc>
                <a:spcPct val="112000"/>
              </a:lnSpc>
              <a:spcAft>
                <a:spcPts val="1000"/>
              </a:spcAft>
            </a:pPr>
            <a:r>
              <a:rPr sz="1300" b="0" i="0">
                <a:solidFill>
                  <a:srgbClr val="1C1B1A"/>
                </a:solidFill>
                <a:latin typeface="IBM Plex Sans"/>
              </a:rPr>
              <a:t>Ketidakpastian mengenai seberapa besar pengaruh caching, pola akses data, dan entropi bentuk query terhadap latency, throughput, dan cache-hit rate pada REST API dibandingkan dengan GraphQL, terutama karena GraphQL secara default tidak cacheable melalui mekanisme HTTP standar.</a:t>
            </a:r>
          </a:p>
          <a:p>
            <a:pPr algn="l">
              <a:lnSpc>
                <a:spcPct val="112000"/>
              </a:lnSpc>
              <a:spcAft>
                <a:spcPts val="1000"/>
              </a:spcAft>
            </a:pPr>
            <a:r>
              <a:rPr sz="1300" b="0" i="0">
                <a:solidFill>
                  <a:srgbClr val="1C1B1A"/>
                </a:solidFill>
                <a:latin typeface="IBM Plex Sans"/>
              </a:rPr>
              <a:t>Belum teridentifikasinya secara komprehensif titik trade-off antara efisiensi transfer data (ukuran payload), cache-hit rate, dan utilisasi sumber daya komputasi server ketika kedua arsitektur API dihadapkan pada variasi bobot payload, kepadatan objek, dan beban akses konkuren.</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2</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Training &amp; Model</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2 · TRAINING</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Konfigurasi fine-tuning YOLO26 (Tabel III.2) + split data.</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Parameter              Nilai                        Catatan</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Pendekatan             Fine-tuning dari bobot COCO  bukan from scratch</a:t>
            </a:r>
          </a:p>
          <a:p>
            <a:pPr algn="l">
              <a:lnSpc>
                <a:spcPct val="112000"/>
              </a:lnSpc>
              <a:spcAft>
                <a:spcPts val="300"/>
              </a:spcAft>
            </a:pPr>
            <a:r>
              <a:rPr sz="1250" b="0" i="0">
                <a:solidFill>
                  <a:srgbClr val="1C1B1A"/>
                </a:solidFill>
                <a:latin typeface="IBM Plex Mono"/>
              </a:rPr>
              <a:t>Ukuran model           YOLO26n (nano)               mulai dari model terkecil</a:t>
            </a:r>
          </a:p>
          <a:p>
            <a:pPr algn="l">
              <a:lnSpc>
                <a:spcPct val="112000"/>
              </a:lnSpc>
              <a:spcAft>
                <a:spcPts val="300"/>
              </a:spcAft>
            </a:pPr>
            <a:r>
              <a:rPr sz="1250" b="0" i="0">
                <a:solidFill>
                  <a:srgbClr val="1C1B1A"/>
                </a:solidFill>
                <a:latin typeface="IBM Plex Mono"/>
              </a:rPr>
              <a:t>Resolusi (imgsz)       1280                         objek kecil citra drone</a:t>
            </a:r>
          </a:p>
          <a:p>
            <a:pPr algn="l">
              <a:lnSpc>
                <a:spcPct val="112000"/>
              </a:lnSpc>
              <a:spcAft>
                <a:spcPts val="300"/>
              </a:spcAft>
            </a:pPr>
            <a:r>
              <a:rPr sz="1250" b="0" i="0">
                <a:solidFill>
                  <a:srgbClr val="1C1B1A"/>
                </a:solidFill>
                <a:latin typeface="IBM Plex Mono"/>
              </a:rPr>
              <a:t>Freeze layer           None                         domain jauh dari COCO</a:t>
            </a:r>
          </a:p>
          <a:p>
            <a:pPr algn="l">
              <a:lnSpc>
                <a:spcPct val="112000"/>
              </a:lnSpc>
              <a:spcAft>
                <a:spcPts val="300"/>
              </a:spcAft>
            </a:pPr>
            <a:r>
              <a:rPr sz="1250" b="0" i="0">
                <a:solidFill>
                  <a:srgbClr val="1C1B1A"/>
                </a:solidFill>
                <a:latin typeface="IBM Plex Mono"/>
              </a:rPr>
              <a:t>Optimizer              SGD lr0=0,01 momentum=0,937  eksplisit — bukan 'auto'</a:t>
            </a:r>
          </a:p>
          <a:p>
            <a:pPr algn="l">
              <a:lnSpc>
                <a:spcPct val="112000"/>
              </a:lnSpc>
              <a:spcAft>
                <a:spcPts val="300"/>
              </a:spcAft>
            </a:pPr>
            <a:r>
              <a:rPr sz="1250" b="0" i="0">
                <a:solidFill>
                  <a:srgbClr val="1C1B1A"/>
                </a:solidFill>
                <a:latin typeface="IBM Plex Mono"/>
              </a:rPr>
              <a:t>Epochs / patience      200 (plafon) / 15            plafon naik dari 100</a:t>
            </a:r>
          </a:p>
          <a:p>
            <a:pPr algn="l">
              <a:lnSpc>
                <a:spcPct val="112000"/>
              </a:lnSpc>
              <a:spcAft>
                <a:spcPts val="300"/>
              </a:spcAft>
            </a:pPr>
            <a:r>
              <a:rPr sz="1250" b="0" i="0">
                <a:solidFill>
                  <a:srgbClr val="1C1B1A"/>
                </a:solidFill>
                <a:latin typeface="IBM Plex Mono"/>
              </a:rPr>
              <a:t>Batch size             4                            T4 16GB @1280, amp</a:t>
            </a:r>
          </a:p>
          <a:p>
            <a:pPr algn="l">
              <a:lnSpc>
                <a:spcPct val="112000"/>
              </a:lnSpc>
              <a:spcAft>
                <a:spcPts val="300"/>
              </a:spcAft>
            </a:pPr>
            <a:r>
              <a:rPr sz="1250" b="0" i="0">
                <a:solidFill>
                  <a:srgbClr val="1C1B1A"/>
                </a:solidFill>
                <a:latin typeface="IBM Plex Mono"/>
              </a:rPr>
              <a:t>Seed / deterministic   42 / False</a:t>
            </a:r>
          </a:p>
          <a:p>
            <a:pPr algn="l">
              <a:lnSpc>
                <a:spcPct val="112000"/>
              </a:lnSpc>
              <a:spcAft>
                <a:spcPts val="300"/>
              </a:spcAft>
            </a:pPr>
            <a:r>
              <a:rPr sz="1250" b="0" i="0">
                <a:solidFill>
                  <a:srgbClr val="1C1B1A"/>
                </a:solidFill>
                <a:latin typeface="IBM Plex Mono"/>
              </a:rPr>
              <a:t>Split resmi (run3)     train 6.471 / val 548        protokol VisDrone-DET</a:t>
            </a:r>
          </a:p>
          <a:p>
            <a:pPr algn="l">
              <a:lnSpc>
                <a:spcPct val="112000"/>
              </a:lnSpc>
              <a:spcAft>
                <a:spcPts val="300"/>
              </a:spcAft>
            </a:pPr>
            <a:r>
              <a:rPr sz="1250" b="0" i="0">
                <a:solidFill>
                  <a:srgbClr val="1C1B1A"/>
                </a:solidFill>
                <a:latin typeface="IBM Plex Mono"/>
              </a:rPr>
              <a:t>Split internal (run2)  train 5.824 / val-int 647    90/10 dr 6.471 (derivasi)</a:t>
            </a:r>
          </a:p>
          <a:p>
            <a:pPr algn="l">
              <a:lnSpc>
                <a:spcPct val="112000"/>
              </a:lnSpc>
              <a:spcAft>
                <a:spcPts val="300"/>
              </a:spcAft>
            </a:pPr>
            <a:r>
              <a:rPr sz="1250" b="0" i="0">
                <a:solidFill>
                  <a:srgbClr val="1C1B1A"/>
                </a:solidFill>
                <a:latin typeface="IBM Plex Mono"/>
              </a:rPr>
              <a:t>Checkpoint korpus      yolo26n_t4_run2/best.pt      lihat catatan di notes</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Kriteria penerimaan dua lapis: konvergensi early-stopping + kecukupan densitas keluaran (anti-sirkularitas: tier kuartil mekanis).</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2 · TRAINING</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Pilot optimizer: 'auto' memilih MuSGD — ±4× lebih lambat per iterasi di T4; SGD eksplisit dikunci.</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Gejala: </a:t>
            </a:r>
            <a:r>
              <a:rPr sz="1400" b="0" i="0">
                <a:solidFill>
                  <a:srgbClr val="1C1B1A"/>
                </a:solidFill>
                <a:latin typeface="IBM Plex Sans"/>
              </a:rPr>
              <a:t>pelatihan final berjalan 1,2 detik/iterasi (≈4× lebih lambat dari baseline); plafon 200 epoch ≈ lima hari.</a:t>
            </a:r>
          </a:p>
          <a:p>
            <a:pPr algn="l">
              <a:lnSpc>
                <a:spcPct val="112000"/>
              </a:lnSpc>
              <a:spcAft>
                <a:spcPts val="1000"/>
              </a:spcAft>
            </a:pPr>
            <a:r>
              <a:rPr sz="1400" b="0" i="0">
                <a:solidFill>
                  <a:srgbClr val="1C1B1A"/>
                </a:solidFill>
                <a:latin typeface="IBM Plex Sans SmBld"/>
              </a:rPr>
              <a:t>Eliminasi sistem: </a:t>
            </a:r>
            <a:r>
              <a:rPr sz="1400" b="0" i="0">
                <a:solidFill>
                  <a:srgbClr val="1C1B1A"/>
                </a:solidFill>
                <a:latin typeface="IBM Plex Sans"/>
              </a:rPr>
              <a:t>versi pustaka, driver GPU, kernel, link PCIe, throttling termal, kuota CPU, I/O disk — semuanya tidak berubah / bukan bottleneck; profil proses: assigner di CPU, GPU mayoritas idle.</a:t>
            </a:r>
          </a:p>
          <a:p>
            <a:pPr algn="l">
              <a:lnSpc>
                <a:spcPct val="112000"/>
              </a:lnSpc>
              <a:spcAft>
                <a:spcPts val="1000"/>
              </a:spcAft>
            </a:pPr>
            <a:r>
              <a:rPr sz="1400" b="0" i="0">
                <a:solidFill>
                  <a:srgbClr val="1C1B1A"/>
                </a:solidFill>
                <a:latin typeface="IBM Plex Sans SmBld"/>
              </a:rPr>
              <a:t>Uji A/B satu-variabel: </a:t>
            </a:r>
            <a:r>
              <a:rPr sz="1400" b="0" i="0">
                <a:solidFill>
                  <a:srgbClr val="1C1B1A"/>
                </a:solidFill>
                <a:latin typeface="IBM Plex Sans"/>
              </a:rPr>
              <a:t>optimizer='auto' memilih MuSGD saat total iterasi melebihi ambang; MuSGD ≈4× lebih lambat dari SGD di T4; uji singkat lolos karena epoch kecil memilih AdamW.</a:t>
            </a:r>
          </a:p>
          <a:p>
            <a:pPr algn="l">
              <a:lnSpc>
                <a:spcPct val="112000"/>
              </a:lnSpc>
              <a:spcAft>
                <a:spcPts val="1000"/>
              </a:spcAft>
            </a:pPr>
            <a:r>
              <a:rPr sz="1400" b="0" i="0">
                <a:solidFill>
                  <a:srgbClr val="1C1B1A"/>
                </a:solidFill>
                <a:latin typeface="IBM Plex Sans SmBld"/>
              </a:rPr>
              <a:t>Keputusan: </a:t>
            </a:r>
            <a:r>
              <a:rPr sz="1400" b="0" i="0">
                <a:solidFill>
                  <a:srgbClr val="1C1B1A"/>
                </a:solidFill>
                <a:latin typeface="IBM Plex Sans"/>
              </a:rPr>
              <a:t>SGD eksplisit (lr0=0,01, momentum=0,937) — stabil 3,6–4,1 iterasi/detik (≈28 jam plafon 200 epoch).</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2 · TRAINING</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Ledger deviasi run3 (Kaggle, protokol resmi) — korpus eksperimen tidak tersentuh.</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Protokol resmi: </a:t>
            </a:r>
            <a:r>
              <a:rPr sz="1400" b="0" i="0">
                <a:solidFill>
                  <a:srgbClr val="1C1B1A"/>
                </a:solidFill>
                <a:latin typeface="IBM Plex Sans"/>
              </a:rPr>
              <a:t>train = 6.471 (scan: '6448 images, 23 backgrounds'), val = 548; args identik train_yolo26.py run3; aktual berjalan single-T4 (device '0', batch 4 → nol deviasi batch).</a:t>
            </a:r>
          </a:p>
          <a:p>
            <a:pPr algn="l">
              <a:lnSpc>
                <a:spcPct val="112000"/>
              </a:lnSpc>
              <a:spcAft>
                <a:spcPts val="1000"/>
              </a:spcAft>
            </a:pPr>
            <a:r>
              <a:rPr sz="1400" b="0" i="0">
                <a:solidFill>
                  <a:srgbClr val="1C1B1A"/>
                </a:solidFill>
                <a:latin typeface="IBM Plex Sans SmBld"/>
              </a:rPr>
              <a:t>Deviasi tercatat: </a:t>
            </a:r>
            <a:r>
              <a:rPr sz="1400" b="0" i="0">
                <a:solidFill>
                  <a:srgbClr val="1C1B1A"/>
                </a:solidFill>
                <a:latin typeface="IBM Plex Sans"/>
              </a:rPr>
              <a:t>workers 4 (Kaggle 4 vCPU); time=10.0 jam/sesi (commit sebelum hard-kill 12 jam); mirror val cacat 150/548 → val lengkap dibawa sendiri.</a:t>
            </a:r>
          </a:p>
          <a:p>
            <a:pPr algn="l">
              <a:lnSpc>
                <a:spcPct val="112000"/>
              </a:lnSpc>
              <a:spcAft>
                <a:spcPts val="1000"/>
              </a:spcAft>
            </a:pPr>
            <a:r>
              <a:rPr sz="1400" b="0" i="0">
                <a:solidFill>
                  <a:srgbClr val="1C1B1A"/>
                </a:solidFill>
                <a:latin typeface="IBM Plex Sans SmBld"/>
              </a:rPr>
              <a:t>Hard rule: </a:t>
            </a:r>
            <a:r>
              <a:rPr sz="1400" b="0" i="0">
                <a:solidFill>
                  <a:srgbClr val="1C1B1A"/>
                </a:solidFill>
                <a:latin typeface="IBM Plex Sans"/>
              </a:rPr>
              <a:t>mot_detections.db FROZEN — tidak ada satu pun keluaran run3 yang meregenerasi korpus eksperimen.</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3</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Dataset &amp; Korpus</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3 · KORPUS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Statistik korpus mot_detections.db (diverifikasi query langsung).</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Besaran               Nilai                      Keterangan</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Sequence              7                          VisDrone-MOT val</a:t>
            </a:r>
          </a:p>
          <a:p>
            <a:pPr algn="l">
              <a:lnSpc>
                <a:spcPct val="112000"/>
              </a:lnSpc>
              <a:spcAft>
                <a:spcPts val="300"/>
              </a:spcAft>
            </a:pPr>
            <a:r>
              <a:rPr sz="1250" b="0" i="0">
                <a:solidFill>
                  <a:srgbClr val="1C1B1A"/>
                </a:solidFill>
                <a:latin typeface="IBM Plex Mono"/>
              </a:rPr>
              <a:t>Image                 2.846</a:t>
            </a:r>
          </a:p>
          <a:p>
            <a:pPr algn="l">
              <a:lnSpc>
                <a:spcPct val="112000"/>
              </a:lnSpc>
              <a:spcAft>
                <a:spcPts val="300"/>
              </a:spcAft>
            </a:pPr>
            <a:r>
              <a:rPr sz="1250" b="0" i="0">
                <a:solidFill>
                  <a:srgbClr val="1C1B1A"/>
                </a:solidFill>
                <a:latin typeface="IBM Plex Mono"/>
              </a:rPr>
              <a:t>Track                 5.429                      0 baris track_id NULL</a:t>
            </a:r>
          </a:p>
          <a:p>
            <a:pPr algn="l">
              <a:lnSpc>
                <a:spcPct val="112000"/>
              </a:lnSpc>
              <a:spcAft>
                <a:spcPts val="300"/>
              </a:spcAft>
            </a:pPr>
            <a:r>
              <a:rPr sz="1250" b="0" i="0">
                <a:solidFill>
                  <a:srgbClr val="1C1B1A"/>
                </a:solidFill>
                <a:latin typeface="IBM Plex Mono"/>
              </a:rPr>
              <a:t>Detection             104.767                    conf ≥ 0,001 disimpan</a:t>
            </a:r>
          </a:p>
          <a:p>
            <a:pPr algn="l">
              <a:lnSpc>
                <a:spcPct val="112000"/>
              </a:lnSpc>
              <a:spcAft>
                <a:spcPts val="300"/>
              </a:spcAft>
            </a:pPr>
            <a:r>
              <a:rPr sz="1250" b="0" i="0">
                <a:solidFill>
                  <a:srgbClr val="1C1B1A"/>
                </a:solidFill>
                <a:latin typeface="IBM Plex Mono"/>
              </a:rPr>
              <a:t>Kelas                 10                         pedestrian…motor</a:t>
            </a:r>
          </a:p>
          <a:p>
            <a:pPr algn="l">
              <a:lnSpc>
                <a:spcPct val="112000"/>
              </a:lnSpc>
              <a:spcAft>
                <a:spcPts val="300"/>
              </a:spcAft>
            </a:pPr>
            <a:r>
              <a:rPr sz="1250" b="0" i="0">
                <a:solidFill>
                  <a:srgbClr val="1C1B1A"/>
                </a:solidFill>
                <a:latin typeface="IBM Plex Mono"/>
              </a:rPr>
              <a:t>Objek/citra min–maks  1 – 134</a:t>
            </a:r>
          </a:p>
          <a:p>
            <a:pPr algn="l">
              <a:lnSpc>
                <a:spcPct val="112000"/>
              </a:lnSpc>
              <a:spcAft>
                <a:spcPts val="300"/>
              </a:spcAft>
            </a:pPr>
            <a:r>
              <a:rPr sz="1250" b="0" i="0">
                <a:solidFill>
                  <a:srgbClr val="1C1B1A"/>
                </a:solidFill>
                <a:latin typeface="IBM Plex Mono"/>
              </a:rPr>
              <a:t>Mean / median         36,53 / 36,0</a:t>
            </a:r>
          </a:p>
          <a:p>
            <a:pPr algn="l">
              <a:lnSpc>
                <a:spcPct val="112000"/>
              </a:lnSpc>
              <a:spcAft>
                <a:spcPts val="300"/>
              </a:spcAft>
            </a:pPr>
            <a:r>
              <a:rPr sz="1250" b="0" i="0">
                <a:solidFill>
                  <a:srgbClr val="1C1B1A"/>
                </a:solidFill>
                <a:latin typeface="IBM Plex Mono"/>
              </a:rPr>
              <a:t>Std dev               32,31</a:t>
            </a:r>
          </a:p>
          <a:p>
            <a:pPr algn="l">
              <a:lnSpc>
                <a:spcPct val="112000"/>
              </a:lnSpc>
              <a:spcAft>
                <a:spcPts val="300"/>
              </a:spcAft>
            </a:pPr>
            <a:r>
              <a:rPr sz="1250" b="0" i="0">
                <a:solidFill>
                  <a:srgbClr val="1C1B1A"/>
                </a:solidFill>
                <a:latin typeface="IBM Plex Mono"/>
              </a:rPr>
              <a:t>Q1 / Q3               5 / 54                     ambang tier kuartil</a:t>
            </a:r>
          </a:p>
          <a:p>
            <a:pPr algn="l">
              <a:lnSpc>
                <a:spcPct val="112000"/>
              </a:lnSpc>
              <a:spcAft>
                <a:spcPts val="300"/>
              </a:spcAft>
            </a:pPr>
            <a:r>
              <a:rPr sz="1250" b="0" i="0">
                <a:solidFill>
                  <a:srgbClr val="1C1B1A"/>
                </a:solidFill>
                <a:latin typeface="IBM Plex Mono"/>
              </a:rPr>
              <a:t>Tier low/medium/high  579 / 1.555 / 712          20,3% / 54,6% / 25,0%</a:t>
            </a:r>
          </a:p>
          <a:p>
            <a:pPr algn="l">
              <a:lnSpc>
                <a:spcPct val="112000"/>
              </a:lnSpc>
              <a:spcAft>
                <a:spcPts val="300"/>
              </a:spcAft>
            </a:pPr>
            <a:r>
              <a:rPr sz="1250" b="0" i="0">
                <a:solidFill>
                  <a:srgbClr val="1C1B1A"/>
                </a:solidFill>
                <a:latin typeface="IBM Plex Mono"/>
              </a:rPr>
              <a:t>Top-5 kelas           pedestrian 37.166 (35,5%)  car 29.609 (28,3%)</a:t>
            </a:r>
          </a:p>
          <a:p>
            <a:pPr algn="l">
              <a:lnSpc>
                <a:spcPct val="112000"/>
              </a:lnSpc>
              <a:spcAft>
                <a:spcPts val="300"/>
              </a:spcAft>
            </a:pPr>
            <a:r>
              <a:rPr sz="1250" b="0" i="0">
                <a:solidFill>
                  <a:srgbClr val="1C1B1A"/>
                </a:solidFill>
                <a:latin typeface="IBM Plex Mono"/>
              </a:rPr>
              <a:t>                      people 13.254 (12,7%)      motor 10.445 · bicycle 5.545</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Payload terukur: image full ≈ 0,3 / 3,9 / 7,2 KB (low/medium/high); trajectory ≈ 100 B/titik.</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3 · KORPUS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Skema relasional: sequence — image — detection — track — class; trajectory adalah kueri turunan, bukan tabel.</a:t>
            </a:r>
          </a:p>
        </p:txBody>
      </p:sp>
      <p:pic>
        <p:nvPicPr>
          <p:cNvPr id="4" name="Picture 3" descr="fig_20_erd_mot_schema.png"/>
          <p:cNvPicPr>
            <a:picLocks noChangeAspect="1"/>
          </p:cNvPicPr>
          <p:nvPr/>
        </p:nvPicPr>
        <p:blipFill>
          <a:blip r:embed="rId2"/>
          <a:stretch>
            <a:fillRect/>
          </a:stretch>
        </p:blipFill>
        <p:spPr>
          <a:xfrm>
            <a:off x="4291410" y="2240280"/>
            <a:ext cx="3608874" cy="393192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Definisi korpus (build_detection_db.py): conf ≥ 0,001 disimpan; tier densitas dihitung @conf ≥ 0,25; kelas track = majority vote; kunci track global (sequence, target_id).</a:t>
            </a:r>
          </a:p>
        </p:txBody>
      </p:sp>
      <p:sp>
        <p:nvSpPr>
          <p:cNvPr id="6" name="TextBox 5">
            <a:hlinkClick action="ppaction://hlinksldjump" r:id="rId4"/>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3 · KORPUS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Asal track_id: ByteTrack (inferensi model) — dibuktikan dengan perbandingan set ID per sequence, bukan asumsi.</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Skrip: </a:t>
            </a:r>
            <a:r>
              <a:rPr sz="1400" b="0" i="0">
                <a:solidFill>
                  <a:srgbClr val="1C1B1A"/>
                </a:solidFill>
                <a:latin typeface="IBM Plex Sans"/>
              </a:rPr>
              <a:t>infer_mot_track.py — “self-consistent track IDs from the model itself, rather than stitching GT tracks”; tracker Ultralytics ByteTrack.</a:t>
            </a:r>
          </a:p>
          <a:p>
            <a:pPr algn="l">
              <a:lnSpc>
                <a:spcPct val="112000"/>
              </a:lnSpc>
              <a:spcAft>
                <a:spcPts val="1000"/>
              </a:spcAft>
            </a:pPr>
            <a:r>
              <a:rPr sz="1400" b="0" i="0">
                <a:solidFill>
                  <a:srgbClr val="1C1B1A"/>
                </a:solidFill>
                <a:latin typeface="IBM Plex Sans SmBld"/>
              </a:rPr>
              <a:t>Parameter: </a:t>
            </a:r>
            <a:r>
              <a:rPr sz="1400" b="0" i="0">
                <a:solidFill>
                  <a:srgbClr val="1C1B1A"/>
                </a:solidFill>
                <a:latin typeface="IBM Plex Sans"/>
              </a:rPr>
              <a:t>conf 0,25 (default inferensi; korpus memakai arm conf001), track_high_thresh 0,5, iou 0,7, imgsz 1280.</a:t>
            </a:r>
          </a:p>
          <a:p>
            <a:pPr algn="l">
              <a:lnSpc>
                <a:spcPct val="112000"/>
              </a:lnSpc>
              <a:spcAft>
                <a:spcPts val="1000"/>
              </a:spcAft>
            </a:pPr>
            <a:r>
              <a:rPr sz="1400" b="0" i="0">
                <a:solidFill>
                  <a:srgbClr val="1C1B1A"/>
                </a:solidFill>
                <a:latin typeface="IBM Plex Sans SmBld"/>
              </a:rPr>
              <a:t>Bukti data (2026-07-13): </a:t>
            </a:r>
            <a:r>
              <a:rPr sz="1400" b="0" i="0">
                <a:solidFill>
                  <a:srgbClr val="1C1B1A"/>
                </a:solidFill>
                <a:latin typeface="IBM Plex Sans"/>
              </a:rPr>
              <a:t>7/7 sequence — set (sequence, target_id) pada txt ByteTrack ≡ set (sequence, local_track_id) di DB, dan jumlah baris deteksi per sequence identik (total 5.429 track, 104.767 baris).</a:t>
            </a:r>
          </a:p>
          <a:p>
            <a:pPr algn="l">
              <a:lnSpc>
                <a:spcPct val="112000"/>
              </a:lnSpc>
              <a:spcAft>
                <a:spcPts val="1000"/>
              </a:spcAft>
            </a:pPr>
            <a:r>
              <a:rPr sz="1400" b="0" i="0">
                <a:solidFill>
                  <a:srgbClr val="1C1B1A"/>
                </a:solidFill>
                <a:latin typeface="IBM Plex Sans SmBld"/>
              </a:rPr>
              <a:t>Konsekuensi: </a:t>
            </a:r>
            <a:r>
              <a:rPr sz="1400" b="0" i="0">
                <a:solidFill>
                  <a:srgbClr val="1C1B1A"/>
                </a:solidFill>
                <a:latin typeface="IBM Plex Sans"/>
              </a:rPr>
              <a:t>seluruh 104.767 deteksi memiliki track (0 NULL); skema tetap mengizinkan NULL untuk kotak yang tidak ter-track.</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4</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Lingkungan &amp; Beban</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4 · LINGKUNGAN</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Perangkat keras &amp; lunak (Tabel III.2–III.4).</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Komponen            Nilai</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CPU                 AMD EPYC 7302 (KVM) · 32 vCPU daring (0–31)</a:t>
            </a:r>
          </a:p>
          <a:p>
            <a:pPr algn="l">
              <a:lnSpc>
                <a:spcPct val="112000"/>
              </a:lnSpc>
              <a:spcAft>
                <a:spcPts val="300"/>
              </a:spcAft>
            </a:pPr>
            <a:r>
              <a:rPr sz="1250" b="0" i="0">
                <a:solidFill>
                  <a:srgbClr val="1C1B1A"/>
                </a:solidFill>
                <a:latin typeface="IBM Plex Mono"/>
              </a:rPr>
              <a:t>Pinning             server 0–7 · k6 8–15 · sampler 31</a:t>
            </a:r>
          </a:p>
          <a:p>
            <a:pPr algn="l">
              <a:lnSpc>
                <a:spcPct val="112000"/>
              </a:lnSpc>
              <a:spcAft>
                <a:spcPts val="300"/>
              </a:spcAft>
            </a:pPr>
            <a:r>
              <a:rPr sz="1250" b="0" i="0">
                <a:solidFill>
                  <a:srgbClr val="1C1B1A"/>
                </a:solidFill>
                <a:latin typeface="IBM Plex Mono"/>
              </a:rPr>
              <a:t>RAM                 64 GB (64.276 MB) · swap 8 GB</a:t>
            </a:r>
          </a:p>
          <a:p>
            <a:pPr algn="l">
              <a:lnSpc>
                <a:spcPct val="112000"/>
              </a:lnSpc>
              <a:spcAft>
                <a:spcPts val="300"/>
              </a:spcAft>
            </a:pPr>
            <a:r>
              <a:rPr sz="1250" b="0" i="0">
                <a:solidFill>
                  <a:srgbClr val="1C1B1A"/>
                </a:solidFill>
                <a:latin typeface="IBM Plex Mono"/>
              </a:rPr>
              <a:t>GPU                 NVIDIA Tesla T4 16 GB — luring, mesin terpisah</a:t>
            </a:r>
          </a:p>
          <a:p>
            <a:pPr algn="l">
              <a:lnSpc>
                <a:spcPct val="112000"/>
              </a:lnSpc>
              <a:spcAft>
                <a:spcPts val="300"/>
              </a:spcAft>
            </a:pPr>
            <a:r>
              <a:rPr sz="1250" b="0" i="0">
                <a:solidFill>
                  <a:srgbClr val="1C1B1A"/>
                </a:solidFill>
                <a:latin typeface="IBM Plex Mono"/>
              </a:rPr>
              <a:t>Penyimpanan         SSD NVMe 512 GB</a:t>
            </a:r>
          </a:p>
          <a:p>
            <a:pPr algn="l">
              <a:lnSpc>
                <a:spcPct val="112000"/>
              </a:lnSpc>
              <a:spcAft>
                <a:spcPts val="300"/>
              </a:spcAft>
            </a:pPr>
            <a:r>
              <a:rPr sz="1250" b="0" i="0">
                <a:solidFill>
                  <a:srgbClr val="1C1B1A"/>
                </a:solidFill>
                <a:latin typeface="IBM Plex Mono"/>
              </a:rPr>
              <a:t>OS                  Ubuntu Linux, kernel 6.8.0-124-generic (KVM)</a:t>
            </a:r>
          </a:p>
          <a:p>
            <a:pPr algn="l">
              <a:lnSpc>
                <a:spcPct val="112000"/>
              </a:lnSpc>
              <a:spcAft>
                <a:spcPts val="300"/>
              </a:spcAft>
            </a:pPr>
            <a:r>
              <a:rPr sz="1250" b="0" i="0">
                <a:solidFill>
                  <a:srgbClr val="1C1B1A"/>
                </a:solidFill>
                <a:latin typeface="IBM Plex Mono"/>
              </a:rPr>
              <a:t>Python              3.12.3</a:t>
            </a:r>
          </a:p>
          <a:p>
            <a:pPr algn="l">
              <a:lnSpc>
                <a:spcPct val="112000"/>
              </a:lnSpc>
              <a:spcAft>
                <a:spcPts val="300"/>
              </a:spcAft>
            </a:pPr>
            <a:r>
              <a:rPr sz="1250" b="0" i="0">
                <a:solidFill>
                  <a:srgbClr val="1C1B1A"/>
                </a:solidFill>
                <a:latin typeface="IBM Plex Mono"/>
              </a:rPr>
              <a:t>FastAPI             0.137.2</a:t>
            </a:r>
          </a:p>
          <a:p>
            <a:pPr algn="l">
              <a:lnSpc>
                <a:spcPct val="112000"/>
              </a:lnSpc>
              <a:spcAft>
                <a:spcPts val="300"/>
              </a:spcAft>
            </a:pPr>
            <a:r>
              <a:rPr sz="1250" b="0" i="0">
                <a:solidFill>
                  <a:srgbClr val="1C1B1A"/>
                </a:solidFill>
                <a:latin typeface="IBM Plex Mono"/>
              </a:rPr>
              <a:t>Strawberry GraphQL  0.317.2</a:t>
            </a:r>
          </a:p>
          <a:p>
            <a:pPr algn="l">
              <a:lnSpc>
                <a:spcPct val="112000"/>
              </a:lnSpc>
              <a:spcAft>
                <a:spcPts val="300"/>
              </a:spcAft>
            </a:pPr>
            <a:r>
              <a:rPr sz="1250" b="0" i="0">
                <a:solidFill>
                  <a:srgbClr val="1C1B1A"/>
                </a:solidFill>
                <a:latin typeface="IBM Plex Mono"/>
              </a:rPr>
              <a:t>Grafana k6          2.0.0</a:t>
            </a:r>
          </a:p>
          <a:p>
            <a:pPr algn="l">
              <a:lnSpc>
                <a:spcPct val="112000"/>
              </a:lnSpc>
              <a:spcAft>
                <a:spcPts val="300"/>
              </a:spcAft>
            </a:pPr>
            <a:r>
              <a:rPr sz="1250" b="0" i="0">
                <a:solidFill>
                  <a:srgbClr val="1C1B1A"/>
                </a:solidFill>
                <a:latin typeface="IBM Plex Mono"/>
              </a:rPr>
              <a:t>psutil              7.2.2</a:t>
            </a:r>
          </a:p>
          <a:p>
            <a:pPr algn="l">
              <a:lnSpc>
                <a:spcPct val="112000"/>
              </a:lnSpc>
              <a:spcAft>
                <a:spcPts val="300"/>
              </a:spcAft>
            </a:pPr>
            <a:r>
              <a:rPr sz="1250" b="0" i="0">
                <a:solidFill>
                  <a:srgbClr val="1C1B1A"/>
                </a:solidFill>
                <a:latin typeface="IBM Plex Mono"/>
              </a:rPr>
              <a:t>Jaringan            network namespace (lan | constrained) via veth</a:t>
            </a:r>
          </a:p>
        </p:txBody>
      </p:sp>
      <p:sp>
        <p:nvSpPr>
          <p:cNvPr id="8" name="TextBox 7">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4 · LINGKUNGAN</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Isolasi resource: kuota seragam + pinning + server bergantian — kontensi tidak menjelaskan hasil.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systemd-run scope: </a:t>
            </a:r>
            <a:r>
              <a:rPr sz="1400" b="0" i="0">
                <a:solidFill>
                  <a:srgbClr val="1C1B1A"/>
                </a:solidFill>
                <a:latin typeface="IBM Plex Sans"/>
              </a:rPr>
              <a:t>CPUQuota 400% · MemoryMax 2048M per server; scope terpisah per sesi.</a:t>
            </a:r>
          </a:p>
          <a:p>
            <a:pPr algn="l">
              <a:lnSpc>
                <a:spcPct val="112000"/>
              </a:lnSpc>
              <a:spcAft>
                <a:spcPts val="1000"/>
              </a:spcAft>
            </a:pPr>
            <a:r>
              <a:rPr sz="1400" b="0" i="0">
                <a:solidFill>
                  <a:srgbClr val="1C1B1A"/>
                </a:solidFill>
                <a:latin typeface="IBM Plex Sans SmBld"/>
              </a:rPr>
              <a:t>Pinning (taskset): </a:t>
            </a:r>
            <a:r>
              <a:rPr sz="1400" b="0" i="0">
                <a:solidFill>
                  <a:srgbClr val="1C1B1A"/>
                </a:solidFill>
                <a:latin typeface="IBM Plex Sans"/>
              </a:rPr>
              <a:t>server core 0–7, k6 core 8–15, sampler telemetri core 31 — terverifikasi live saat launch phase2-core-clean.</a:t>
            </a:r>
          </a:p>
          <a:p>
            <a:pPr algn="l">
              <a:lnSpc>
                <a:spcPct val="112000"/>
              </a:lnSpc>
              <a:spcAft>
                <a:spcPts val="1000"/>
              </a:spcAft>
            </a:pPr>
            <a:r>
              <a:rPr sz="1400" b="0" i="0">
                <a:solidFill>
                  <a:srgbClr val="1C1B1A"/>
                </a:solidFill>
                <a:latin typeface="IBM Plex Sans SmBld"/>
              </a:rPr>
              <a:t>Serial ketat: </a:t>
            </a:r>
            <a:r>
              <a:rPr sz="1400" b="0" i="0">
                <a:solidFill>
                  <a:srgbClr val="1C1B1A"/>
                </a:solidFill>
                <a:latin typeface="IBM Plex Sans"/>
              </a:rPr>
              <a:t>satu sel pada satu waktu; server REST/GraphQL bergantian di port 8000, tidak pernah co-resident; urutan blok diacak seed 42 (anti drift termal).</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4 · LINGKUNGAN</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Profil netem &amp; topologi: satu hop klien↔edge yang ditunda — bukan seluruh loopback.</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lan: </a:t>
            </a:r>
            <a:r>
              <a:rPr sz="1400" b="0" i="0">
                <a:solidFill>
                  <a:srgbClr val="1C1B1A"/>
                </a:solidFill>
                <a:latin typeface="IBM Plex Sans"/>
              </a:rPr>
              <a:t>delay 5 ms ± 1 ms (distribusi normal), rate 100 Mbit — dipakai studi skenario MOT.</a:t>
            </a:r>
          </a:p>
          <a:p>
            <a:pPr algn="l">
              <a:lnSpc>
                <a:spcPct val="112000"/>
              </a:lnSpc>
              <a:spcAft>
                <a:spcPts val="1000"/>
              </a:spcAft>
            </a:pPr>
            <a:r>
              <a:rPr sz="1400" b="0" i="0">
                <a:solidFill>
                  <a:srgbClr val="1C1B1A"/>
                </a:solidFill>
                <a:latin typeface="IBM Plex Sans SmBld"/>
              </a:rPr>
              <a:t>constrained: </a:t>
            </a:r>
            <a:r>
              <a:rPr sz="1400" b="0" i="0">
                <a:solidFill>
                  <a:srgbClr val="1C1B1A"/>
                </a:solidFill>
                <a:latin typeface="IBM Plex Sans"/>
              </a:rPr>
              <a:t>delay 25 ms ± 5 ms per arah (RTT ≈ 50 ms), rate 10 Mbit — dipakai grid caching.</a:t>
            </a:r>
          </a:p>
          <a:p>
            <a:pPr algn="l">
              <a:lnSpc>
                <a:spcPct val="112000"/>
              </a:lnSpc>
              <a:spcAft>
                <a:spcPts val="1000"/>
              </a:spcAft>
            </a:pPr>
            <a:r>
              <a:rPr sz="1400" b="0" i="0">
                <a:solidFill>
                  <a:srgbClr val="1C1B1A"/>
                </a:solidFill>
                <a:latin typeface="IBM Plex Sans SmBld"/>
              </a:rPr>
              <a:t>Perbaikan topologi: </a:t>
            </a:r>
            <a:r>
              <a:rPr sz="1400" b="0" i="0">
                <a:solidFill>
                  <a:srgbClr val="1C1B1A"/>
                </a:solidFill>
                <a:latin typeface="IBM Plex Sans"/>
              </a:rPr>
              <a:t>netem hanya di sisi host veth; hop Varnish↔backend di loopback namespace tak tersentuh — artefak double-delay (MISS terukur 2× → 1×) dieliminasi.</a:t>
            </a:r>
          </a:p>
          <a:p>
            <a:pPr algn="l">
              <a:lnSpc>
                <a:spcPct val="112000"/>
              </a:lnSpc>
              <a:spcAft>
                <a:spcPts val="1000"/>
              </a:spcAft>
            </a:pPr>
            <a:r>
              <a:rPr sz="1400" b="0" i="0">
                <a:solidFill>
                  <a:srgbClr val="1C1B1A"/>
                </a:solidFill>
                <a:latin typeface="IBM Plex Sans SmBld"/>
              </a:rPr>
              <a:t>Konsekuensi analisis: </a:t>
            </a:r>
            <a:r>
              <a:rPr sz="1400" b="0" i="0">
                <a:solidFill>
                  <a:srgbClr val="1C1B1A"/>
                </a:solidFill>
                <a:latin typeface="IBM Plex Sans"/>
              </a:rPr>
              <a:t>korpus lan vs constrained tidak dibandingkan lintas korpus (diakui di Ancaman Validitas).</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4 · LINGKUNGAN</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Varnish: keputusan cache 100% dari header backend — protokol-agnostik by design.</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Backend tunggal 127.0.0.1:8000: </a:t>
            </a:r>
            <a:r>
              <a:rPr sz="1400" b="0" i="0">
                <a:solidFill>
                  <a:srgbClr val="1C1B1A"/>
                </a:solidFill>
                <a:latin typeface="IBM Plex Sans"/>
              </a:rPr>
              <a:t>REST/GraphQL bergantian; Varnish tidak tahu protokol mana yang hidup.</a:t>
            </a:r>
          </a:p>
          <a:p>
            <a:pPr algn="l">
              <a:lnSpc>
                <a:spcPct val="112000"/>
              </a:lnSpc>
              <a:spcAft>
                <a:spcPts val="1000"/>
              </a:spcAft>
            </a:pPr>
            <a:r>
              <a:rPr sz="1400" b="0" i="0">
                <a:solidFill>
                  <a:srgbClr val="1C1B1A"/>
                </a:solidFill>
                <a:latin typeface="IBM Plex Sans SmBld"/>
              </a:rPr>
              <a:t>Hanya GET yang cacheable: </a:t>
            </a:r>
            <a:r>
              <a:rPr sz="1400" b="0" i="0">
                <a:solidFill>
                  <a:srgbClr val="1C1B1A"/>
                </a:solidFill>
                <a:latin typeface="IBM Plex Sans"/>
              </a:rPr>
              <a:t>POST /graphql selalu pass (tidak di-cache, bukan error).</a:t>
            </a:r>
          </a:p>
          <a:p>
            <a:pPr algn="l">
              <a:lnSpc>
                <a:spcPct val="112000"/>
              </a:lnSpc>
              <a:spcAft>
                <a:spcPts val="1000"/>
              </a:spcAft>
            </a:pPr>
            <a:r>
              <a:rPr sz="1400" b="0" i="0">
                <a:solidFill>
                  <a:srgbClr val="1C1B1A"/>
                </a:solidFill>
                <a:latin typeface="IBM Plex Sans SmBld"/>
              </a:rPr>
              <a:t>vcl_builtin_backend_response dipanggil eksplisit: </a:t>
            </a:r>
            <a:r>
              <a:rPr sz="1400" b="0" i="0">
                <a:solidFill>
                  <a:srgbClr val="1C1B1A"/>
                </a:solidFill>
                <a:latin typeface="IBM Plex Sans"/>
              </a:rPr>
              <a:t>tanpa ini 'Cache-Control: no-store' DIABAIKAN diam-diam — bug nyata yang tertangkap saat verifikasi Phase 2a (endpoint random sempat HIT).</a:t>
            </a:r>
          </a:p>
          <a:p>
            <a:pPr algn="l">
              <a:lnSpc>
                <a:spcPct val="112000"/>
              </a:lnSpc>
              <a:spcAft>
                <a:spcPts val="1000"/>
              </a:spcAft>
            </a:pPr>
            <a:r>
              <a:rPr sz="1400" b="0" i="0">
                <a:solidFill>
                  <a:srgbClr val="1C1B1A"/>
                </a:solidFill>
                <a:latin typeface="IBM Plex Sans SmBld"/>
              </a:rPr>
              <a:t>X-Cache HIT/MISS: </a:t>
            </a:r>
            <a:r>
              <a:rPr sz="1400" b="0" i="0">
                <a:solidFill>
                  <a:srgbClr val="1C1B1A"/>
                </a:solidFill>
                <a:latin typeface="IBM Plex Sans"/>
              </a:rPr>
              <a:t>satu-satunya tambahan di atas default — dibaca acceptance test A3 dan metrik cache_hit_rate.</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4 · BEBAN</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Enam skenario M1–M6 = operasionalisasi pola kebutuhan klien; k6 open-loop agar tail latency jujur.</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M1 full · M2 sparse (fields=class_id,confidence) · M3 filter (class_id=4 'car' 28%, min_confidence=0,5) · M4 agregasi class_counts.</a:t>
            </a:r>
            <a:r>
              <a:rPr sz="1400" b="0" i="0">
                <a:solidFill>
                  <a:srgbClr val="1C1B1A"/>
                </a:solidFill>
                <a:latin typeface="IBM Plex Sans"/>
              </a:rPr>
              <a:t/>
            </a:r>
          </a:p>
          <a:p>
            <a:pPr algn="l">
              <a:lnSpc>
                <a:spcPct val="112000"/>
              </a:lnSpc>
              <a:spcAft>
                <a:spcPts val="1000"/>
              </a:spcAft>
            </a:pPr>
            <a:r>
              <a:rPr sz="1400" b="0" i="0">
                <a:solidFill>
                  <a:srgbClr val="1C1B1A"/>
                </a:solidFill>
                <a:latin typeface="IBM Plex Sans SmBld"/>
              </a:rPr>
              <a:t>M5 trajectory window: </a:t>
            </a:r>
            <a:r>
              <a:rPr sz="1400" b="0" i="0">
                <a:solidFill>
                  <a:srgbClr val="1C1B1A"/>
                </a:solidFill>
                <a:latin typeface="IBM Plex Sans"/>
              </a:rPr>
              <a:t>REST 2 round-trip (track → trajectory) vs GraphQL 1 komposit; window w2/w8/w23 = 5/17/47 titik (pool 2.806/1.385/563 track).</a:t>
            </a:r>
          </a:p>
          <a:p>
            <a:pPr algn="l">
              <a:lnSpc>
                <a:spcPct val="112000"/>
              </a:lnSpc>
              <a:spcAft>
                <a:spcPts val="1000"/>
              </a:spcAft>
            </a:pPr>
            <a:r>
              <a:rPr sz="1400" b="0" i="0">
                <a:solidFill>
                  <a:srgbClr val="1C1B1A"/>
                </a:solidFill>
                <a:latin typeface="IBM Plex Sans SmBld"/>
              </a:rPr>
              <a:t>M6 pagination: </a:t>
            </a:r>
            <a:r>
              <a:rPr sz="1400" b="0" i="0">
                <a:solidFill>
                  <a:srgbClr val="1C1B1A"/>
                </a:solidFill>
                <a:latin typeface="IBM Plex Sans"/>
              </a:rPr>
              <a:t>REST K panggilan cacheable vs GraphQL 1 komposit tracks(ids); K = 1/5/10.</a:t>
            </a:r>
          </a:p>
          <a:p>
            <a:pPr algn="l">
              <a:lnSpc>
                <a:spcPct val="112000"/>
              </a:lnSpc>
              <a:spcAft>
                <a:spcPts val="1000"/>
              </a:spcAft>
            </a:pPr>
            <a:r>
              <a:rPr sz="1400" b="0" i="0">
                <a:solidFill>
                  <a:srgbClr val="1C1B1A"/>
                </a:solidFill>
                <a:latin typeface="IBM Plex Sans SmBld"/>
              </a:rPr>
              <a:t>k6 constant-arrival-rate: </a:t>
            </a:r>
            <a:r>
              <a:rPr sz="1400" b="0" i="0">
                <a:solidFill>
                  <a:srgbClr val="1C1B1A"/>
                </a:solidFill>
                <a:latin typeface="IBM Plex Sans"/>
              </a:rPr>
              <a:t>laju TIDAK melambat saat server melambat (anti coordinated omission — Tene 2015); summaryTrendStats p50/p95/p99.</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Konstanta filter dipilih dari distribusi korpus: conf Q1 0,434 &lt; 0,5 &lt; median 0,608.</a:t>
            </a:r>
          </a:p>
        </p:txBody>
      </p:sp>
      <p:sp>
        <p:nvSpPr>
          <p:cNvPr id="6" name="TextBox 5">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5</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Grid &amp; Kalibrasi</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5 · GRID</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Grid inti caching: 2×2×3×2 = 24 blok × 30 run = 720 run terukur.</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Faktor           Taraf                       Keterangan</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Protokol         REST · GraphQL              variabel bebas utama</a:t>
            </a:r>
          </a:p>
          <a:p>
            <a:pPr algn="l">
              <a:lnSpc>
                <a:spcPct val="112000"/>
              </a:lnSpc>
              <a:spcAft>
                <a:spcPts val="300"/>
              </a:spcAft>
            </a:pPr>
            <a:r>
              <a:rPr sz="1250" b="0" i="0">
                <a:solidFill>
                  <a:srgbClr val="1C1B1A"/>
                </a:solidFill>
                <a:latin typeface="IBM Plex Mono"/>
              </a:rPr>
              <a:t>Caching          on · off                    on: Varnish; GraphQL APQ-over-GET</a:t>
            </a:r>
          </a:p>
          <a:p>
            <a:pPr algn="l">
              <a:lnSpc>
                <a:spcPct val="112000"/>
              </a:lnSpc>
              <a:spcAft>
                <a:spcPts val="300"/>
              </a:spcAft>
            </a:pPr>
            <a:r>
              <a:rPr sz="1250" b="0" i="0">
                <a:solidFill>
                  <a:srgbClr val="1C1B1A"/>
                </a:solidFill>
                <a:latin typeface="IBM Plex Mono"/>
              </a:rPr>
              <a:t>Pola akses       unique · uniform · zipfian  atur reuse identitas</a:t>
            </a:r>
          </a:p>
          <a:p>
            <a:pPr algn="l">
              <a:lnSpc>
                <a:spcPct val="112000"/>
              </a:lnSpc>
              <a:spcAft>
                <a:spcPts val="300"/>
              </a:spcAft>
            </a:pPr>
            <a:r>
              <a:rPr sz="1250" b="0" i="0">
                <a:solidFill>
                  <a:srgbClr val="1C1B1A"/>
                </a:solidFill>
                <a:latin typeface="IBM Plex Mono"/>
              </a:rPr>
              <a:t>Bobot payload    light · heavy               deteksi/citra vs trajectory</a:t>
            </a:r>
          </a:p>
          <a:p>
            <a:pPr algn="l">
              <a:lnSpc>
                <a:spcPct val="112000"/>
              </a:lnSpc>
              <a:spcAft>
                <a:spcPts val="300"/>
              </a:spcAft>
            </a:pPr>
            <a:r>
              <a:rPr sz="1250" b="0" i="0">
                <a:solidFill>
                  <a:srgbClr val="1C1B1A"/>
                </a:solidFill>
                <a:latin typeface="IBM Plex Mono"/>
              </a:rPr>
              <a:t>Entropi query    sedang (dikunci)            drill-in opsional</a:t>
            </a:r>
          </a:p>
          <a:p>
            <a:pPr algn="l">
              <a:lnSpc>
                <a:spcPct val="112000"/>
              </a:lnSpc>
              <a:spcAft>
                <a:spcPts val="300"/>
              </a:spcAft>
            </a:pPr>
            <a:r>
              <a:rPr sz="1250" b="0" i="0">
                <a:solidFill>
                  <a:srgbClr val="1C1B1A"/>
                </a:solidFill>
                <a:latin typeface="IBM Plex Mono"/>
              </a:rPr>
              <a:t>Densitas objek   sedang (dikunci)            drill-in opsional</a:t>
            </a:r>
          </a:p>
          <a:p>
            <a:pPr algn="l">
              <a:lnSpc>
                <a:spcPct val="112000"/>
              </a:lnSpc>
              <a:spcAft>
                <a:spcPts val="300"/>
              </a:spcAft>
            </a:pPr>
            <a:r>
              <a:rPr sz="1250" b="0" i="0">
                <a:solidFill>
                  <a:srgbClr val="1C1B1A"/>
                </a:solidFill>
                <a:latin typeface="IBM Plex Mono"/>
              </a:rPr>
              <a:t>Profil jaringan  constrained (dikunci)       netem via netns</a:t>
            </a:r>
          </a:p>
          <a:p>
            <a:pPr algn="l">
              <a:lnSpc>
                <a:spcPct val="112000"/>
              </a:lnSpc>
              <a:spcAft>
                <a:spcPts val="300"/>
              </a:spcAft>
            </a:pPr>
            <a:r>
              <a:rPr sz="1250" b="0" i="0">
                <a:solidFill>
                  <a:srgbClr val="1C1B1A"/>
                </a:solidFill>
                <a:latin typeface="IBM Plex Mono"/>
              </a:rPr>
              <a:t>Laju permintaan  10 rps (dikunci)            constant-arrival-rate</a:t>
            </a:r>
          </a:p>
          <a:p>
            <a:pPr algn="l">
              <a:lnSpc>
                <a:spcPct val="112000"/>
              </a:lnSpc>
              <a:spcAft>
                <a:spcPts val="300"/>
              </a:spcAft>
            </a:pPr>
            <a:r>
              <a:rPr sz="1250" b="0" i="0">
                <a:solidFill>
                  <a:srgbClr val="1C1B1A"/>
                </a:solidFill>
                <a:latin typeface="IBM Plex Mono"/>
              </a:rPr>
              <a:t>Eksekusi         24 × (1 warmup + 30)        = 744 run; 720 terukur</a:t>
            </a:r>
          </a:p>
        </p:txBody>
      </p:sp>
      <p:sp>
        <p:nvSpPr>
          <p:cNvPr id="8" name="TextBox 7">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5 · GRID</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Matriks skenario MOT: 54 sel × 2 protokol × 30 run = 3.240 run terukur.</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ID  Skenario              Tier                   r40/r80/r120 (iter/s)</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M1  Full detection fetch  densitas low/med/high  25 / 50 / 74</a:t>
            </a:r>
          </a:p>
          <a:p>
            <a:pPr algn="l">
              <a:lnSpc>
                <a:spcPct val="112000"/>
              </a:lnSpc>
              <a:spcAft>
                <a:spcPts val="300"/>
              </a:spcAft>
            </a:pPr>
            <a:r>
              <a:rPr sz="1250" b="0" i="0">
                <a:solidFill>
                  <a:srgbClr val="1C1B1A"/>
                </a:solidFill>
                <a:latin typeface="IBM Plex Mono"/>
              </a:rPr>
              <a:t>M2  Selective field       densitas low/med/high  25 / 50 / 74</a:t>
            </a:r>
          </a:p>
          <a:p>
            <a:pPr algn="l">
              <a:lnSpc>
                <a:spcPct val="112000"/>
              </a:lnSpc>
              <a:spcAft>
                <a:spcPts val="300"/>
              </a:spcAft>
            </a:pPr>
            <a:r>
              <a:rPr sz="1250" b="0" i="0">
                <a:solidFill>
                  <a:srgbClr val="1C1B1A"/>
                </a:solidFill>
                <a:latin typeface="IBM Plex Mono"/>
              </a:rPr>
              <a:t>M3  Filtered detection    densitas low/med/high  25 / 50 / 74</a:t>
            </a:r>
          </a:p>
          <a:p>
            <a:pPr algn="l">
              <a:lnSpc>
                <a:spcPct val="112000"/>
              </a:lnSpc>
              <a:spcAft>
                <a:spcPts val="300"/>
              </a:spcAft>
            </a:pPr>
            <a:r>
              <a:rPr sz="1250" b="0" i="0">
                <a:solidFill>
                  <a:srgbClr val="1C1B1A"/>
                </a:solidFill>
                <a:latin typeface="IBM Plex Mono"/>
              </a:rPr>
              <a:t>M4  Aggregated            densitas low/med/high  25 / 50 / 74</a:t>
            </a:r>
          </a:p>
          <a:p>
            <a:pPr algn="l">
              <a:lnSpc>
                <a:spcPct val="112000"/>
              </a:lnSpc>
              <a:spcAft>
                <a:spcPts val="300"/>
              </a:spcAft>
            </a:pPr>
            <a:r>
              <a:rPr sz="1250" b="0" i="0">
                <a:solidFill>
                  <a:srgbClr val="1C1B1A"/>
                </a:solidFill>
                <a:latin typeface="IBM Plex Mono"/>
              </a:rPr>
              <a:t>M5  Trajectory window     window w2/w8/w23       25 / 50 / 74</a:t>
            </a:r>
          </a:p>
          <a:p>
            <a:pPr algn="l">
              <a:lnSpc>
                <a:spcPct val="112000"/>
              </a:lnSpc>
              <a:spcAft>
                <a:spcPts val="300"/>
              </a:spcAft>
            </a:pPr>
            <a:r>
              <a:rPr sz="1250" b="0" i="0">
                <a:solidFill>
                  <a:srgbClr val="1C1B1A"/>
                </a:solidFill>
                <a:latin typeface="IBM Plex Mono"/>
              </a:rPr>
              <a:t>M6  Pagination (K RT)     halaman k1/k5/k10      17 / 34 / 52</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Setiap sel: 1 warm-up dibuang + 30 run terukur 90 s; r120_overload dianalisis terpisah, tidak pernah dipool dengan r40/r80.</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5 · KALIBRASI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Ceiling saturasi per keluarga → laju 40/80/120% dari protokol terendah.</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Keluarga       Ceiling REST  Ceiling GraphQL  Terendah  r40/r80/r120</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image (M1–M4)  100           62               62        25 / 50 / 74</a:t>
            </a:r>
          </a:p>
          <a:p>
            <a:pPr algn="l">
              <a:lnSpc>
                <a:spcPct val="112000"/>
              </a:lnSpc>
              <a:spcAft>
                <a:spcPts val="300"/>
              </a:spcAft>
            </a:pPr>
            <a:r>
              <a:rPr sz="1250" b="0" i="0">
                <a:solidFill>
                  <a:srgbClr val="1C1B1A"/>
                </a:solidFill>
                <a:latin typeface="IBM Plex Mono"/>
              </a:rPr>
              <a:t>track (M5)     100           62               62        25 / 50 / 74</a:t>
            </a:r>
          </a:p>
          <a:p>
            <a:pPr algn="l">
              <a:lnSpc>
                <a:spcPct val="112000"/>
              </a:lnSpc>
              <a:spcAft>
                <a:spcPts val="300"/>
              </a:spcAft>
            </a:pPr>
            <a:r>
              <a:rPr sz="1250" b="0" i="0">
                <a:solidFill>
                  <a:srgbClr val="1C1B1A"/>
                </a:solidFill>
                <a:latin typeface="IBM Plex Mono"/>
              </a:rPr>
              <a:t>page (M6)      43            62               43        17 / 34 / 52</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Aturan saturasi: dropped_iterations &gt; 0 ∨ error &gt; 1% ∨ p95 &gt; max(5×baseline, 150 ms). GraphQL ~62 iter/s di SEMUA keluarga (framework-bound); REST page-family dibatasi fan-out K (43 hal/s ≈ 430 call/s).</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5 · DUA KORPUS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Dua korpus hasil — jangan bandingkan angka latensi lintas korpus.</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Aspek         mot-scenarios-core (RQ1/RQ2)  phase2-core-real (RQ3)</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Grid          skenario×tier×laju (M1–M6)    caching×akses×payload</a:t>
            </a:r>
          </a:p>
          <a:p>
            <a:pPr algn="l">
              <a:lnSpc>
                <a:spcPct val="112000"/>
              </a:lnSpc>
              <a:spcAft>
                <a:spcPts val="300"/>
              </a:spcAft>
            </a:pPr>
            <a:r>
              <a:rPr sz="1250" b="0" i="0">
                <a:solidFill>
                  <a:srgbClr val="1C1B1A"/>
                </a:solidFill>
                <a:latin typeface="IBM Plex Mono"/>
              </a:rPr>
              <a:t>Run terukur   3.240                         720</a:t>
            </a:r>
          </a:p>
          <a:p>
            <a:pPr algn="l">
              <a:lnSpc>
                <a:spcPct val="112000"/>
              </a:lnSpc>
              <a:spcAft>
                <a:spcPts val="300"/>
              </a:spcAft>
            </a:pPr>
            <a:r>
              <a:rPr sz="1250" b="0" i="0">
                <a:solidFill>
                  <a:srgbClr val="1C1B1A"/>
                </a:solidFill>
                <a:latin typeface="IBM Plex Mono"/>
              </a:rPr>
              <a:t>Network       lan                           constrained</a:t>
            </a:r>
          </a:p>
          <a:p>
            <a:pPr algn="l">
              <a:lnSpc>
                <a:spcPct val="112000"/>
              </a:lnSpc>
              <a:spcAft>
                <a:spcPts val="300"/>
              </a:spcAft>
            </a:pPr>
            <a:r>
              <a:rPr sz="1250" b="0" i="0">
                <a:solidFill>
                  <a:srgbClr val="1C1B1A"/>
                </a:solidFill>
                <a:latin typeface="IBM Plex Mono"/>
              </a:rPr>
              <a:t>Caching       off saja                      on/off (Varnish)</a:t>
            </a:r>
          </a:p>
          <a:p>
            <a:pPr algn="l">
              <a:lnSpc>
                <a:spcPct val="112000"/>
              </a:lnSpc>
              <a:spcAft>
                <a:spcPts val="300"/>
              </a:spcAft>
            </a:pPr>
            <a:r>
              <a:rPr sz="1250" b="0" i="0">
                <a:solidFill>
                  <a:srgbClr val="1C1B1A"/>
                </a:solidFill>
                <a:latin typeface="IBM Plex Mono"/>
              </a:rPr>
              <a:t>Pola akses    uniform                       uniform/zipfian/unique</a:t>
            </a:r>
          </a:p>
          <a:p>
            <a:pPr algn="l">
              <a:lnSpc>
                <a:spcPct val="112000"/>
              </a:lnSpc>
              <a:spcAft>
                <a:spcPts val="300"/>
              </a:spcAft>
            </a:pPr>
            <a:r>
              <a:rPr sz="1250" b="0" i="0">
                <a:solidFill>
                  <a:srgbClr val="1C1B1A"/>
                </a:solidFill>
                <a:latin typeface="IBM Plex Mono"/>
              </a:rPr>
              <a:t>Laju          kalibrasi 40/80/120%          10 rps tetap</a:t>
            </a:r>
          </a:p>
          <a:p>
            <a:pPr algn="l">
              <a:lnSpc>
                <a:spcPct val="112000"/>
              </a:lnSpc>
              <a:spcAft>
                <a:spcPts val="300"/>
              </a:spcAft>
            </a:pPr>
            <a:r>
              <a:rPr sz="1250" b="0" i="0">
                <a:solidFill>
                  <a:srgbClr val="1C1B1A"/>
                </a:solidFill>
                <a:latin typeface="IBM Plex Mono"/>
              </a:rPr>
              <a:t>Workload      k6/workload_mot.js            k6/workload.js</a:t>
            </a:r>
          </a:p>
          <a:p>
            <a:pPr algn="l">
              <a:lnSpc>
                <a:spcPct val="112000"/>
              </a:lnSpc>
              <a:spcAft>
                <a:spcPts val="300"/>
              </a:spcAft>
            </a:pPr>
            <a:r>
              <a:rPr sz="1250" b="0" i="0">
                <a:solidFill>
                  <a:srgbClr val="1C1B1A"/>
                </a:solidFill>
                <a:latin typeface="IBM Plex Mono"/>
              </a:rPr>
              <a:t>CPU/RSS       valid                         invalid → phase2-core-clean</a:t>
            </a:r>
          </a:p>
          <a:p>
            <a:pPr algn="l">
              <a:lnSpc>
                <a:spcPct val="112000"/>
              </a:lnSpc>
              <a:spcAft>
                <a:spcPts val="300"/>
              </a:spcAft>
            </a:pPr>
            <a:r>
              <a:rPr sz="1250" b="0" i="0">
                <a:solidFill>
                  <a:srgbClr val="1C1B1A"/>
                </a:solidFill>
                <a:latin typeface="IBM Plex Mono"/>
              </a:rPr>
              <a:t>Env snapshot  ya                            tidak</a:t>
            </a:r>
          </a:p>
          <a:p>
            <a:pPr algn="l">
              <a:lnSpc>
                <a:spcPct val="112000"/>
              </a:lnSpc>
              <a:spcAft>
                <a:spcPts val="300"/>
              </a:spcAft>
            </a:pPr>
            <a:r>
              <a:rPr sz="1250" b="0" i="0">
                <a:solidFill>
                  <a:srgbClr val="1C1B1A"/>
                </a:solidFill>
                <a:latin typeface="IBM Plex Mono"/>
              </a:rPr>
              <a:t>Serial        ya (terverifikasi)            ya (satu-satunya phase2 serial)</a:t>
            </a:r>
          </a:p>
        </p:txBody>
      </p:sp>
      <p:sp>
        <p:nvSpPr>
          <p:cNvPr id="8" name="TextBox 7">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6</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Tabel Statistik per RQ</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RQ1</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Tabel V.1 — tier tinggi, r80: latensi &amp; CPU per skenario.</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Skenario              p50 REST (ms)  p50 GraphQL (ms)  CPU REST (%)  CPU GraphQL (%)</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M1 (seluruh deteksi)  8,70           20,94             18,0          79,5</a:t>
            </a:r>
          </a:p>
          <a:p>
            <a:pPr algn="l">
              <a:lnSpc>
                <a:spcPct val="112000"/>
              </a:lnSpc>
              <a:spcAft>
                <a:spcPts val="300"/>
              </a:spcAft>
            </a:pPr>
            <a:r>
              <a:rPr sz="1250" b="0" i="0">
                <a:solidFill>
                  <a:srgbClr val="1C1B1A"/>
                </a:solidFill>
                <a:latin typeface="IBM Plex Mono"/>
              </a:rPr>
              <a:t>M2 (seleksi field)    8,22           15,57             15,4          54,0</a:t>
            </a:r>
          </a:p>
          <a:p>
            <a:pPr algn="l">
              <a:lnSpc>
                <a:spcPct val="112000"/>
              </a:lnSpc>
              <a:spcAft>
                <a:spcPts val="300"/>
              </a:spcAft>
            </a:pPr>
            <a:r>
              <a:rPr sz="1250" b="0" i="0">
                <a:solidFill>
                  <a:srgbClr val="1C1B1A"/>
                </a:solidFill>
                <a:latin typeface="IBM Plex Mono"/>
              </a:rPr>
              <a:t>M3 (filtering)        7,67           15,21             12,5          51,9</a:t>
            </a:r>
          </a:p>
          <a:p>
            <a:pPr algn="l">
              <a:lnSpc>
                <a:spcPct val="112000"/>
              </a:lnSpc>
              <a:spcAft>
                <a:spcPts val="300"/>
              </a:spcAft>
            </a:pPr>
            <a:r>
              <a:rPr sz="1250" b="0" i="0">
                <a:solidFill>
                  <a:srgbClr val="1C1B1A"/>
                </a:solidFill>
                <a:latin typeface="IBM Plex Mono"/>
              </a:rPr>
              <a:t>M4 (agregasi)         7,82           11,78             13,4          34,8</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Rasio p95 GraphQL/REST per skenario: M1 ≈2,0× · M2 ≈1,7× · M3 ≈1,9× · M4 ≈1,5× (rentang 1,46–3,14); CPU 34/36 dan RSS 31/36 sel pro-REST.</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RQ1</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Median per sel M1–M4 pada r80 (n = 30 per sel).</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Sel        p50 R  p50 G  p95 R  p95 G  δ</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M1·low     7,24   12,70  8,96   15,41  -1,00</a:t>
            </a:r>
          </a:p>
          <a:p>
            <a:pPr algn="l">
              <a:lnSpc>
                <a:spcPct val="112000"/>
              </a:lnSpc>
              <a:spcAft>
                <a:spcPts val="300"/>
              </a:spcAft>
            </a:pPr>
            <a:r>
              <a:rPr sz="1250" b="0" i="0">
                <a:solidFill>
                  <a:srgbClr val="1C1B1A"/>
                </a:solidFill>
                <a:latin typeface="IBM Plex Mono"/>
              </a:rPr>
              <a:t>M1·medium  7,80   15,67  9,67   19,55  -1,00</a:t>
            </a:r>
          </a:p>
          <a:p>
            <a:pPr algn="l">
              <a:lnSpc>
                <a:spcPct val="112000"/>
              </a:lnSpc>
              <a:spcAft>
                <a:spcPts val="300"/>
              </a:spcAft>
            </a:pPr>
            <a:r>
              <a:rPr sz="1250" b="0" i="0">
                <a:solidFill>
                  <a:srgbClr val="1C1B1A"/>
                </a:solidFill>
                <a:latin typeface="IBM Plex Mono"/>
              </a:rPr>
              <a:t>M1·high    8,70   20,94  10,73  33,69  -1,00</a:t>
            </a:r>
          </a:p>
          <a:p>
            <a:pPr algn="l">
              <a:lnSpc>
                <a:spcPct val="112000"/>
              </a:lnSpc>
              <a:spcAft>
                <a:spcPts val="300"/>
              </a:spcAft>
            </a:pPr>
            <a:r>
              <a:rPr sz="1250" b="0" i="0">
                <a:solidFill>
                  <a:srgbClr val="1C1B1A"/>
                </a:solidFill>
                <a:latin typeface="IBM Plex Mono"/>
              </a:rPr>
              <a:t>M2·low     7,18   11,87  8,87   14,39  -1,00</a:t>
            </a:r>
          </a:p>
          <a:p>
            <a:pPr algn="l">
              <a:lnSpc>
                <a:spcPct val="112000"/>
              </a:lnSpc>
              <a:spcAft>
                <a:spcPts val="300"/>
              </a:spcAft>
            </a:pPr>
            <a:r>
              <a:rPr sz="1250" b="0" i="0">
                <a:solidFill>
                  <a:srgbClr val="1C1B1A"/>
                </a:solidFill>
                <a:latin typeface="IBM Plex Mono"/>
              </a:rPr>
              <a:t>M2·medium  7,51   13,22  9,41   16,74  -1,00</a:t>
            </a:r>
          </a:p>
          <a:p>
            <a:pPr algn="l">
              <a:lnSpc>
                <a:spcPct val="112000"/>
              </a:lnSpc>
              <a:spcAft>
                <a:spcPts val="300"/>
              </a:spcAft>
            </a:pPr>
            <a:r>
              <a:rPr sz="1250" b="0" i="0">
                <a:solidFill>
                  <a:srgbClr val="1C1B1A"/>
                </a:solidFill>
                <a:latin typeface="IBM Plex Mono"/>
              </a:rPr>
              <a:t>M2·high    8,22   15,57  10,08  19,91  -1,00</a:t>
            </a:r>
          </a:p>
          <a:p>
            <a:pPr algn="l">
              <a:lnSpc>
                <a:spcPct val="112000"/>
              </a:lnSpc>
              <a:spcAft>
                <a:spcPts val="300"/>
              </a:spcAft>
            </a:pPr>
            <a:r>
              <a:rPr sz="1250" b="0" i="0">
                <a:solidFill>
                  <a:srgbClr val="1C1B1A"/>
                </a:solidFill>
                <a:latin typeface="IBM Plex Mono"/>
              </a:rPr>
              <a:t>M3·low     7,16   13,35  8,85   16,82  -1,00</a:t>
            </a:r>
          </a:p>
          <a:p>
            <a:pPr algn="l">
              <a:lnSpc>
                <a:spcPct val="112000"/>
              </a:lnSpc>
              <a:spcAft>
                <a:spcPts val="300"/>
              </a:spcAft>
            </a:pPr>
            <a:r>
              <a:rPr sz="1250" b="0" i="0">
                <a:solidFill>
                  <a:srgbClr val="1C1B1A"/>
                </a:solidFill>
                <a:latin typeface="IBM Plex Mono"/>
              </a:rPr>
              <a:t>M3·medium  7,29   13,69  9,01   17,38  -1,00</a:t>
            </a:r>
          </a:p>
          <a:p>
            <a:pPr algn="l">
              <a:lnSpc>
                <a:spcPct val="112000"/>
              </a:lnSpc>
              <a:spcAft>
                <a:spcPts val="300"/>
              </a:spcAft>
            </a:pPr>
            <a:r>
              <a:rPr sz="1250" b="0" i="0">
                <a:solidFill>
                  <a:srgbClr val="1C1B1A"/>
                </a:solidFill>
                <a:latin typeface="IBM Plex Mono"/>
              </a:rPr>
              <a:t>M3·high    7,67   15,21  9,42   19,21  -1,00</a:t>
            </a:r>
          </a:p>
          <a:p>
            <a:pPr algn="l">
              <a:lnSpc>
                <a:spcPct val="112000"/>
              </a:lnSpc>
              <a:spcAft>
                <a:spcPts val="300"/>
              </a:spcAft>
            </a:pPr>
            <a:r>
              <a:rPr sz="1250" b="0" i="0">
                <a:solidFill>
                  <a:srgbClr val="1C1B1A"/>
                </a:solidFill>
                <a:latin typeface="IBM Plex Mono"/>
              </a:rPr>
              <a:t>M4·low     6,93   10,86  8,70   14,11  -1,00</a:t>
            </a:r>
          </a:p>
          <a:p>
            <a:pPr algn="l">
              <a:lnSpc>
                <a:spcPct val="112000"/>
              </a:lnSpc>
              <a:spcAft>
                <a:spcPts val="300"/>
              </a:spcAft>
            </a:pPr>
            <a:r>
              <a:rPr sz="1250" b="0" i="0">
                <a:solidFill>
                  <a:srgbClr val="1C1B1A"/>
                </a:solidFill>
                <a:latin typeface="IBM Plex Mono"/>
              </a:rPr>
              <a:t>M4·medium  7,28   11,21  9,09   14,49  -1,00</a:t>
            </a:r>
          </a:p>
          <a:p>
            <a:pPr algn="l">
              <a:lnSpc>
                <a:spcPct val="112000"/>
              </a:lnSpc>
              <a:spcAft>
                <a:spcPts val="300"/>
              </a:spcAft>
            </a:pPr>
            <a:r>
              <a:rPr sz="1250" b="0" i="0">
                <a:solidFill>
                  <a:srgbClr val="1C1B1A"/>
                </a:solidFill>
                <a:latin typeface="IBM Plex Mono"/>
              </a:rPr>
              <a:t>M4·high    7,82   11,78  9,66   15,03  -1,00</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δ = signed Cliff's delta latency (−1,00 = pemisahan sempurna pro-REST); p (Holm) &lt; 0,001 pada seluruh sel latensi (Tabel L.1).</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RQ2</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Page latency M5/M6 pada r40 (median, n = 30) + titik impas.</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Sel     REST (ms)  GraphQL (ms)  round-trip</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M5·w2   14,79      14,73         2 vs 1</a:t>
            </a:r>
          </a:p>
          <a:p>
            <a:pPr algn="l">
              <a:lnSpc>
                <a:spcPct val="112000"/>
              </a:lnSpc>
              <a:spcAft>
                <a:spcPts val="300"/>
              </a:spcAft>
            </a:pPr>
            <a:r>
              <a:rPr sz="1250" b="0" i="0">
                <a:solidFill>
                  <a:srgbClr val="1C1B1A"/>
                </a:solidFill>
                <a:latin typeface="IBM Plex Mono"/>
              </a:rPr>
              <a:t>M5·w8   15,14      16,23         2 vs 1</a:t>
            </a:r>
          </a:p>
          <a:p>
            <a:pPr algn="l">
              <a:lnSpc>
                <a:spcPct val="112000"/>
              </a:lnSpc>
              <a:spcAft>
                <a:spcPts val="300"/>
              </a:spcAft>
            </a:pPr>
            <a:r>
              <a:rPr sz="1250" b="0" i="0">
                <a:solidFill>
                  <a:srgbClr val="1C1B1A"/>
                </a:solidFill>
                <a:latin typeface="IBM Plex Mono"/>
              </a:rPr>
              <a:t>M5·w23  15,67      20,07         2 vs 1</a:t>
            </a:r>
          </a:p>
          <a:p>
            <a:pPr algn="l">
              <a:lnSpc>
                <a:spcPct val="112000"/>
              </a:lnSpc>
              <a:spcAft>
                <a:spcPts val="300"/>
              </a:spcAft>
            </a:pPr>
            <a:r>
              <a:rPr sz="1250" b="0" i="0">
                <a:solidFill>
                  <a:srgbClr val="1C1B1A"/>
                </a:solidFill>
                <a:latin typeface="IBM Plex Mono"/>
              </a:rPr>
              <a:t>M6·k1   7,75       14,32         1 vs 1</a:t>
            </a:r>
          </a:p>
          <a:p>
            <a:pPr algn="l">
              <a:lnSpc>
                <a:spcPct val="112000"/>
              </a:lnSpc>
              <a:spcAft>
                <a:spcPts val="300"/>
              </a:spcAft>
            </a:pPr>
            <a:r>
              <a:rPr sz="1250" b="0" i="0">
                <a:solidFill>
                  <a:srgbClr val="1C1B1A"/>
                </a:solidFill>
                <a:latin typeface="IBM Plex Mono"/>
              </a:rPr>
              <a:t>M6·k5   36,57      16,88         5 vs 1</a:t>
            </a:r>
          </a:p>
          <a:p>
            <a:pPr algn="l">
              <a:lnSpc>
                <a:spcPct val="112000"/>
              </a:lnSpc>
              <a:spcAft>
                <a:spcPts val="300"/>
              </a:spcAft>
            </a:pPr>
            <a:r>
              <a:rPr sz="1250" b="0" i="0">
                <a:solidFill>
                  <a:srgbClr val="1C1B1A"/>
                </a:solidFill>
                <a:latin typeface="IBM Plex Mono"/>
              </a:rPr>
              <a:t>M6·k10  75,13      19,86         10 vs 1</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K* = 2 (interpolasi Δ page-latency). Δ M6·k1 = −6,58 ms (CI95 −6,90…−6,49); Δ M5·w2 = +0,06 ms (CI95 −0,01…+0,10).</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RQ3</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Grid caching per blok: hit rate &amp; Δ latency saat cache aktif (n = 30).</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Blok           hit R  hit G  Δlat R (ms)  Δlat G (ms)</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zipfian·light  0,43   0,42   -0,41        -3,09</a:t>
            </a:r>
          </a:p>
          <a:p>
            <a:pPr algn="l">
              <a:lnSpc>
                <a:spcPct val="112000"/>
              </a:lnSpc>
              <a:spcAft>
                <a:spcPts val="300"/>
              </a:spcAft>
            </a:pPr>
            <a:r>
              <a:rPr sz="1250" b="0" i="0">
                <a:solidFill>
                  <a:srgbClr val="1C1B1A"/>
                </a:solidFill>
                <a:latin typeface="IBM Plex Mono"/>
              </a:rPr>
              <a:t>zipfian·heavy  0,37   0,37   -0,27        -2,21</a:t>
            </a:r>
          </a:p>
          <a:p>
            <a:pPr algn="l">
              <a:lnSpc>
                <a:spcPct val="112000"/>
              </a:lnSpc>
              <a:spcAft>
                <a:spcPts val="300"/>
              </a:spcAft>
            </a:pPr>
            <a:r>
              <a:rPr sz="1250" b="0" i="0">
                <a:solidFill>
                  <a:srgbClr val="1C1B1A"/>
                </a:solidFill>
                <a:latin typeface="IBM Plex Mono"/>
              </a:rPr>
              <a:t>uniform·light  0,06   0,06   +0,68        +0,87</a:t>
            </a:r>
          </a:p>
          <a:p>
            <a:pPr algn="l">
              <a:lnSpc>
                <a:spcPct val="112000"/>
              </a:lnSpc>
              <a:spcAft>
                <a:spcPts val="300"/>
              </a:spcAft>
            </a:pPr>
            <a:r>
              <a:rPr sz="1250" b="0" i="0">
                <a:solidFill>
                  <a:srgbClr val="1C1B1A"/>
                </a:solidFill>
                <a:latin typeface="IBM Plex Mono"/>
              </a:rPr>
              <a:t>uniform·heavy  0,02   0,03   +0,99        +0,91</a:t>
            </a:r>
          </a:p>
          <a:p>
            <a:pPr algn="l">
              <a:lnSpc>
                <a:spcPct val="112000"/>
              </a:lnSpc>
              <a:spcAft>
                <a:spcPts val="300"/>
              </a:spcAft>
            </a:pPr>
            <a:r>
              <a:rPr sz="1250" b="0" i="0">
                <a:solidFill>
                  <a:srgbClr val="1C1B1A"/>
                </a:solidFill>
                <a:latin typeface="IBM Plex Mono"/>
              </a:rPr>
              <a:t>unique·light   0,00   0,00   +1,01        +0,87</a:t>
            </a:r>
          </a:p>
          <a:p>
            <a:pPr algn="l">
              <a:lnSpc>
                <a:spcPct val="112000"/>
              </a:lnSpc>
              <a:spcAft>
                <a:spcPts val="300"/>
              </a:spcAft>
            </a:pPr>
            <a:r>
              <a:rPr sz="1250" b="0" i="0">
                <a:solidFill>
                  <a:srgbClr val="1C1B1A"/>
                </a:solidFill>
                <a:latin typeface="IBM Plex Mono"/>
              </a:rPr>
              <a:t>unique·heavy   0,00   0,00   +0,94        +1,07</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CPU/RSS valid (re-run phase2-core-clean, 720 run): REST ≈2,8% / ≈49 MB vs GraphQL ≈8,7% / ≈59 MB; replikasi 12/12 blok δ latensi −1,00, pergeseran median ≤0,25 ms.</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ROBUSTNESS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Factorial-A: arah temuan tidak pernah berbalik oleh beban — 48/48 sel pemisahan sempurna.</a:t>
            </a:r>
          </a:p>
        </p:txBody>
      </p:sp>
      <p:sp>
        <p:nvSpPr>
          <p:cNvPr id="4" name="TextBox 3"/>
          <p:cNvSpPr txBox="1"/>
          <p:nvPr/>
        </p:nvSpPr>
        <p:spPr>
          <a:xfrm>
            <a:off x="731520" y="2331720"/>
            <a:ext cx="3566160"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2.880 run, 48 sel (pattern × densitas × konkurensi 1–100): </a:t>
            </a:r>
            <a:r>
              <a:rPr sz="1400" b="0" i="0">
                <a:solidFill>
                  <a:srgbClr val="1C1B1A"/>
                </a:solidFill>
                <a:latin typeface="IBM Plex Sans"/>
              </a:rPr>
              <a:t>|δ| lat_p95 = 1,00 di seluruh 48 sel.</a:t>
            </a:r>
          </a:p>
          <a:p>
            <a:pPr algn="l">
              <a:lnSpc>
                <a:spcPct val="112000"/>
              </a:lnSpc>
              <a:spcAft>
                <a:spcPts val="1000"/>
              </a:spcAft>
            </a:pPr>
            <a:r>
              <a:rPr sz="1400" b="0" i="0">
                <a:solidFill>
                  <a:srgbClr val="1C1B1A"/>
                </a:solidFill>
                <a:latin typeface="IBM Plex Sans SmBld"/>
              </a:rPr>
              <a:t>188/192 perbandingan signifikan (BH-FDR): </a:t>
            </a:r>
            <a:r>
              <a:rPr sz="1400" b="0" i="0">
                <a:solidFill>
                  <a:srgbClr val="1C1B1A"/>
                </a:solidFill>
                <a:latin typeface="IBM Plex Sans"/>
              </a:rPr>
              <a:t>lat_p95 48/48, throughput 48/48, xproc_p95 48/48 pro-REST; payload 44/48 signifikan.</a:t>
            </a:r>
          </a:p>
          <a:p>
            <a:pPr algn="l">
              <a:lnSpc>
                <a:spcPct val="112000"/>
              </a:lnSpc>
              <a:spcAft>
                <a:spcPts val="1000"/>
              </a:spcAft>
            </a:pPr>
            <a:r>
              <a:rPr sz="1400" b="0" i="0">
                <a:solidFill>
                  <a:srgbClr val="1C1B1A"/>
                </a:solidFill>
                <a:latin typeface="IBM Plex Sans SmBld"/>
              </a:rPr>
              <a:t>Rasio p95 per pattern: </a:t>
            </a:r>
            <a:r>
              <a:rPr sz="1400" b="0" i="0">
                <a:solidFill>
                  <a:srgbClr val="1C1B1A"/>
                </a:solidFill>
                <a:latin typeface="IBM Plex Sans"/>
              </a:rPr>
              <a:t>aggregate 3,6× · filtered 2,9× · partial 2,7× · baseline 2,7× (maks 7,1×); Jonckheere-Terpstra: monoton naik terhadap konkurensi utk kedua protokol.</a:t>
            </a:r>
          </a:p>
        </p:txBody>
      </p:sp>
      <p:pic>
        <p:nvPicPr>
          <p:cNvPr id="5" name="Picture 4" descr="factA_invariance.png"/>
          <p:cNvPicPr>
            <a:picLocks noChangeAspect="1"/>
          </p:cNvPicPr>
          <p:nvPr/>
        </p:nvPicPr>
        <p:blipFill>
          <a:blip r:embed="rId2"/>
          <a:stretch>
            <a:fillRect/>
          </a:stretch>
        </p:blipFill>
        <p:spPr>
          <a:xfrm>
            <a:off x="4747508" y="2240280"/>
            <a:ext cx="6582877" cy="3977640"/>
          </a:xfrm>
          <a:prstGeom prst="rect">
            <a:avLst/>
          </a:prstGeom>
        </p:spPr>
      </p:pic>
      <p:sp>
        <p:nvSpPr>
          <p:cNvPr id="6" name="TextBox 5"/>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49% grup non-normal (Shapiro-Wilk) — justifikasi pilihan non-parametrik.</a:t>
            </a:r>
          </a:p>
        </p:txBody>
      </p:sp>
      <p:sp>
        <p:nvSpPr>
          <p:cNvPr id="7" name="TextBox 6">
            <a:hlinkClick action="ppaction://hlinksldjump" r:id="rId4"/>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6 · RQ3</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Distribusi cache-hit rate: pola akses menentukan, protokol tidak.</a:t>
            </a:r>
          </a:p>
        </p:txBody>
      </p:sp>
      <p:pic>
        <p:nvPicPr>
          <p:cNvPr id="4" name="Picture 3" descr="cache_hit_rate.png"/>
          <p:cNvPicPr>
            <a:picLocks noChangeAspect="1"/>
          </p:cNvPicPr>
          <p:nvPr/>
        </p:nvPicPr>
        <p:blipFill>
          <a:blip r:embed="rId2"/>
          <a:stretch>
            <a:fillRect/>
          </a:stretch>
        </p:blipFill>
        <p:spPr>
          <a:xfrm>
            <a:off x="2507892" y="2240280"/>
            <a:ext cx="7175909" cy="3977640"/>
          </a:xfrm>
          <a:prstGeom prst="rect">
            <a:avLst/>
          </a:prstGeom>
        </p:spPr>
      </p:pic>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Zipfian 0,37–0,43 · uniform 0,02–0,06 · unique 0,00; whisker = IQR 30 run; payload heavy menurunkan hit rate (entri lebih besar, variasi komposisi lebih tinggi).</a:t>
            </a:r>
          </a:p>
        </p:txBody>
      </p:sp>
      <p:sp>
        <p:nvSpPr>
          <p:cNvPr id="6" name="TextBox 5">
            <a:hlinkClick action="ppaction://hlinksldjump" r:id="rId4"/>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7</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Metode Statistik</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7 · METODE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Formulasi: Mann-Whitney U + rank-biserial (≡ A12 ≡ Cliff's δ); keputusan bertumpu effect size.</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Uji U: </a:t>
            </a:r>
            <a:r>
              <a:rPr sz="1400" b="0" i="0">
                <a:solidFill>
                  <a:srgbClr val="1C1B1A"/>
                </a:solidFill>
                <a:latin typeface="IBM Plex Sans"/>
              </a:rPr>
              <a:t>gabung-rank dua kelompok independen (n₁=n₂=30); U yang lebih kecil dibandingkan ke distribusi U; tingkat kepercayaan 95%.</a:t>
            </a:r>
          </a:p>
          <a:p>
            <a:pPr algn="l">
              <a:lnSpc>
                <a:spcPct val="112000"/>
              </a:lnSpc>
              <a:spcAft>
                <a:spcPts val="1000"/>
              </a:spcAft>
            </a:pPr>
            <a:r>
              <a:rPr sz="1400" b="0" i="0">
                <a:solidFill>
                  <a:srgbClr val="1C1B1A"/>
                </a:solidFill>
                <a:latin typeface="IBM Plex Sans SmBld"/>
              </a:rPr>
              <a:t>Effect size: </a:t>
            </a:r>
            <a:r>
              <a:rPr sz="1400" b="0" i="0">
                <a:solidFill>
                  <a:srgbClr val="1C1B1A"/>
                </a:solidFill>
                <a:latin typeface="IBM Plex Sans"/>
              </a:rPr>
              <a:t>rank-biserial via simple difference formula (Kerby 2014); setara A12 Vargha-Delaney dan Cliff's δ; tanda = arah (δ&lt;0 = REST unggul).</a:t>
            </a:r>
          </a:p>
          <a:p>
            <a:pPr algn="l">
              <a:lnSpc>
                <a:spcPct val="112000"/>
              </a:lnSpc>
              <a:spcAft>
                <a:spcPts val="1000"/>
              </a:spcAft>
            </a:pPr>
            <a:r>
              <a:rPr sz="1400" b="0" i="0">
                <a:solidFill>
                  <a:srgbClr val="1C1B1A"/>
                </a:solidFill>
                <a:latin typeface="IBM Plex Sans SmBld"/>
              </a:rPr>
              <a:t>Ambang magnitudo pipeline (Romano): </a:t>
            </a:r>
            <a:r>
              <a:rPr sz="1400" b="0" i="0">
                <a:solidFill>
                  <a:srgbClr val="1C1B1A"/>
                </a:solidFill>
                <a:latin typeface="IBM Plex Sans"/>
              </a:rPr>
              <a:t>|δ| 0,147 kecil · 0,33 sedang · 0,474 besar — catatan: Bab III menulis 0,10/0,30/0,50 (Kerby), Fiel Peres 0,11/0,28/0,43; dampak praktis nol karena hampir semua |δ| = 1,00.</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7 · METODE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Koreksi berganda &amp; disiplin overload: Holm per keluarga metrik; r120 tidak pernah dipool.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Eksperimen utama: </a:t>
            </a:r>
            <a:r>
              <a:rPr sz="1400" b="0" i="0">
                <a:solidFill>
                  <a:srgbClr val="1C1B1A"/>
                </a:solidFill>
                <a:latin typeface="IBM Plex Sans"/>
              </a:rPr>
              <a:t>koreksi Holm diterapkan per keluarga metrik (implementasi analyze_phase2.py / analyze_mot_scenarios.py).</a:t>
            </a:r>
          </a:p>
          <a:p>
            <a:pPr algn="l">
              <a:lnSpc>
                <a:spcPct val="112000"/>
              </a:lnSpc>
              <a:spcAft>
                <a:spcPts val="1000"/>
              </a:spcAft>
            </a:pPr>
            <a:r>
              <a:rPr sz="1400" b="0" i="0">
                <a:solidFill>
                  <a:srgbClr val="1C1B1A"/>
                </a:solidFill>
                <a:latin typeface="IBM Plex Sans SmBld"/>
              </a:rPr>
              <a:t>Uji pendahuluan: </a:t>
            </a:r>
            <a:r>
              <a:rPr sz="1400" b="0" i="0">
                <a:solidFill>
                  <a:srgbClr val="1C1B1A"/>
                </a:solidFill>
                <a:latin typeface="IBM Plex Sans"/>
              </a:rPr>
              <a:t>Benjamini-Hochberg FDR q = 0,05 — hanya di analisis pilot.</a:t>
            </a:r>
          </a:p>
          <a:p>
            <a:pPr algn="l">
              <a:lnSpc>
                <a:spcPct val="112000"/>
              </a:lnSpc>
              <a:spcAft>
                <a:spcPts val="1000"/>
              </a:spcAft>
            </a:pPr>
            <a:r>
              <a:rPr sz="1400" b="0" i="0">
                <a:solidFill>
                  <a:srgbClr val="1C1B1A"/>
                </a:solidFill>
                <a:latin typeface="IBM Plex Sans SmBld"/>
              </a:rPr>
              <a:t>Overload: </a:t>
            </a:r>
            <a:r>
              <a:rPr sz="1400" b="0" i="0">
                <a:solidFill>
                  <a:srgbClr val="1C1B1A"/>
                </a:solidFill>
                <a:latin typeface="IBM Plex Sans"/>
              </a:rPr>
              <a:t>r120_overload dianalisis dalam keluarga Holm terpisah per family skenario; kolom overload_saturates mencatat protokol pendefinisi ceiling; jangan bandingkan overload lintas keluarga.</a:t>
            </a:r>
          </a:p>
          <a:p>
            <a:pPr algn="l">
              <a:lnSpc>
                <a:spcPct val="112000"/>
              </a:lnSpc>
              <a:spcAft>
                <a:spcPts val="1000"/>
              </a:spcAft>
            </a:pPr>
            <a:r>
              <a:rPr sz="1400" b="0" i="0">
                <a:solidFill>
                  <a:srgbClr val="1C1B1A"/>
                </a:solidFill>
                <a:latin typeface="IBM Plex Sans SmBld"/>
              </a:rPr>
              <a:t>Catatan konsistensi: </a:t>
            </a:r>
            <a:r>
              <a:rPr sz="1400" b="0" i="0">
                <a:solidFill>
                  <a:srgbClr val="1C1B1A"/>
                </a:solidFill>
                <a:latin typeface="IBM Plex Sans"/>
              </a:rPr>
              <a:t>satu kalimat Ancaman Validitas Bab V masih menulis 'Benjamini-Hochberg' untuk grid inti — koreksi F5: Holm (BH hanya pilot).</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8</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Insiden &amp; Integritas Data</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8 · RUN-SESI-1</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Taksonomi error tersembunyi run-sesi-1 (uji pendahuluan).</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Aspek                  Nilai</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Jenis error            ValueError: could not convert string to float: 'x1'</a:t>
            </a:r>
          </a:p>
          <a:p>
            <a:pPr algn="l">
              <a:lnSpc>
                <a:spcPct val="112000"/>
              </a:lnSpc>
              <a:spcAft>
                <a:spcPts val="300"/>
              </a:spcAft>
            </a:pPr>
            <a:r>
              <a:rPr sz="1250" b="0" i="0">
                <a:solidFill>
                  <a:srgbClr val="1C1B1A"/>
                </a:solidFill>
                <a:latin typeface="IBM Plex Mono"/>
              </a:rPr>
              <a:t>                       + GraphQLError: Float cannot represent non numeric value</a:t>
            </a:r>
          </a:p>
          <a:p>
            <a:pPr algn="l">
              <a:lnSpc>
                <a:spcPct val="112000"/>
              </a:lnSpc>
              <a:spcAft>
                <a:spcPts val="300"/>
              </a:spcAft>
            </a:pPr>
            <a:r>
              <a:rPr sz="1250" b="0" i="0">
                <a:solidFill>
                  <a:srgbClr val="1C1B1A"/>
                </a:solidFill>
                <a:latin typeface="IBM Plex Mono"/>
              </a:rPr>
              <a:t>Lokasi                 serialisasi field bounding_box (GraphQL)</a:t>
            </a:r>
          </a:p>
          <a:p>
            <a:pPr algn="l">
              <a:lnSpc>
                <a:spcPct val="112000"/>
              </a:lnSpc>
              <a:spcAft>
                <a:spcPts val="300"/>
              </a:spcAft>
            </a:pPr>
            <a:r>
              <a:rPr sz="1250" b="0" i="0">
                <a:solidFill>
                  <a:srgbClr val="1C1B1A"/>
                </a:solidFill>
                <a:latin typeface="IBM Plex Mono"/>
              </a:rPr>
              <a:t>Jumlah traceback       345.879 (berpasangan)</a:t>
            </a:r>
          </a:p>
          <a:p>
            <a:pPr algn="l">
              <a:lnSpc>
                <a:spcPct val="112000"/>
              </a:lnSpc>
              <a:spcAft>
                <a:spcPts val="300"/>
              </a:spcAft>
            </a:pPr>
            <a:r>
              <a:rPr sz="1250" b="0" i="0">
                <a:solidFill>
                  <a:srgbClr val="1C1B1A"/>
                </a:solidFill>
                <a:latin typeface="IBM Plex Mono"/>
              </a:rPr>
              <a:t>Rentang di log         ~0,1% – 59,5% offset log 1,34 GB, lalu berhenti</a:t>
            </a:r>
          </a:p>
          <a:p>
            <a:pPr algn="l">
              <a:lnSpc>
                <a:spcPct val="112000"/>
              </a:lnSpc>
              <a:spcAft>
                <a:spcPts val="300"/>
              </a:spcAft>
            </a:pPr>
            <a:r>
              <a:rPr sz="1250" b="0" i="0">
                <a:solidFill>
                  <a:srgbClr val="1C1B1A"/>
                </a:solidFill>
                <a:latin typeface="IBM Plex Mono"/>
              </a:rPr>
              <a:t>Kenapa tersembunyi     HTTP 200 in-band; cek k6 hanya status===200</a:t>
            </a:r>
          </a:p>
          <a:p>
            <a:pPr algn="l">
              <a:lnSpc>
                <a:spcPct val="112000"/>
              </a:lnSpc>
              <a:spcAft>
                <a:spcPts val="300"/>
              </a:spcAft>
            </a:pPr>
            <a:r>
              <a:rPr sz="1250" b="0" i="0">
                <a:solidFill>
                  <a:srgbClr val="1C1B1A"/>
                </a:solidFill>
                <a:latin typeface="IBM Plex Mono"/>
              </a:rPr>
              <a:t>error_rate di CSV      0 di semua baris (tidak terlihat)</a:t>
            </a:r>
          </a:p>
          <a:p>
            <a:pPr algn="l">
              <a:lnSpc>
                <a:spcPct val="112000"/>
              </a:lnSpc>
              <a:spcAft>
                <a:spcPts val="300"/>
              </a:spcAft>
            </a:pPr>
            <a:r>
              <a:rPr sz="1250" b="0" i="0">
                <a:solidFill>
                  <a:srgbClr val="1C1B1A"/>
                </a:solidFill>
                <a:latin typeface="IBM Plex Mono"/>
              </a:rPr>
              <a:t>Iterasi GraphQL total  7.947.457 (baseline+filtered: 3.297.716)</a:t>
            </a:r>
          </a:p>
          <a:p>
            <a:pPr algn="l">
              <a:lnSpc>
                <a:spcPct val="112000"/>
              </a:lnSpc>
              <a:spcAft>
                <a:spcPts val="300"/>
              </a:spcAft>
            </a:pPr>
            <a:r>
              <a:rPr sz="1250" b="0" i="0">
                <a:solidFill>
                  <a:srgbClr val="1C1B1A"/>
                </a:solidFill>
                <a:latin typeface="IBM Plex Mono"/>
              </a:rPr>
              <a:t>Sesi lain              run-sesi-2: 0 error · factorial-A: 0 error</a:t>
            </a:r>
          </a:p>
          <a:p>
            <a:pPr algn="l">
              <a:lnSpc>
                <a:spcPct val="112000"/>
              </a:lnSpc>
              <a:spcAft>
                <a:spcPts val="300"/>
              </a:spcAft>
            </a:pPr>
            <a:r>
              <a:rPr sz="1250" b="0" i="0">
                <a:solidFill>
                  <a:srgbClr val="1C1B1A"/>
                </a:solidFill>
                <a:latin typeface="IBM Plex Mono"/>
              </a:rPr>
              <a:t>Konteks tambahan       run-sesi-1/2 pra-perbaikan fairness 824b195</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Jumlah request terdampak tidak dapat diturunkan dari log (satu error per kemunculan field).</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8 · RUN-SESI-1</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Konsekuensi &amp; mitigasi: DEMOTED — dan guard permanen agar kelas error ini tidak bisa lolos lagi.</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Vonis (2026-07-09): </a:t>
            </a:r>
            <a:r>
              <a:rPr sz="1400" b="0" i="0">
                <a:solidFill>
                  <a:srgbClr val="1C1B1A"/>
                </a:solidFill>
                <a:latin typeface="IBM Plex Sans"/>
              </a:rPr>
              <a:t>run-sesi-1 dikeluarkan dari SEMUA angka tesis; pengganti Study-A: factorial-A (2.880 run, audit bersih 0 error).</a:t>
            </a:r>
          </a:p>
          <a:p>
            <a:pPr algn="l">
              <a:lnSpc>
                <a:spcPct val="112000"/>
              </a:lnSpc>
              <a:spcAft>
                <a:spcPts val="1000"/>
              </a:spcAft>
            </a:pPr>
            <a:r>
              <a:rPr sz="1400" b="0" i="0">
                <a:solidFill>
                  <a:srgbClr val="1C1B1A"/>
                </a:solidFill>
                <a:latin typeface="IBM Plex Sans SmBld"/>
              </a:rPr>
              <a:t>Guard permanen: </a:t>
            </a:r>
            <a:r>
              <a:rPr sz="1400" b="0" i="0">
                <a:solidFill>
                  <a:srgbClr val="1C1B1A"/>
                </a:solidFill>
                <a:latin typeface="IBM Plex Sans"/>
              </a:rPr>
              <a:t>k6 body-check “no graphql errors” pada respons final (aman terhadap retry registrasi APQ).</a:t>
            </a:r>
          </a:p>
          <a:p>
            <a:pPr algn="l">
              <a:lnSpc>
                <a:spcPct val="112000"/>
              </a:lnSpc>
              <a:spcAft>
                <a:spcPts val="1000"/>
              </a:spcAft>
            </a:pPr>
            <a:r>
              <a:rPr sz="1400" b="0" i="0">
                <a:solidFill>
                  <a:srgbClr val="1C1B1A"/>
                </a:solidFill>
                <a:latin typeface="IBM Plex Sans SmBld"/>
              </a:rPr>
              <a:t>Kontrol negatif diverifikasi: </a:t>
            </a:r>
            <a:r>
              <a:rPr sz="1400" b="0" i="0">
                <a:solidFill>
                  <a:srgbClr val="1C1B1A"/>
                </a:solidFill>
                <a:latin typeface="IBM Plex Sans"/>
              </a:rPr>
              <a:t>kueri field invalid = HTTP 200 + body errors → tertangkap check; smoke test 9/9 blok PASS; APQ registrasi tidak menjatuhkan check (51 pass/0 fail).</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8 · PARALELISME</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400" b="0" i="0">
                <a:solidFill>
                  <a:srgbClr val="1C1B1A"/>
                </a:solidFill>
                <a:latin typeface="IBM Plex Sans SmBld"/>
              </a:rPr>
              <a:t>Timeline kontaminasi konkurensi phase2 → definisi subset bersih.</a:t>
            </a:r>
          </a:p>
        </p:txBody>
      </p:sp>
      <p:sp>
        <p:nvSpPr>
          <p:cNvPr id="4" name="Rectangle 3"/>
          <p:cNvSpPr/>
          <p:nvPr/>
        </p:nvSpPr>
        <p:spPr>
          <a:xfrm>
            <a:off x="731520" y="1965960"/>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39112"/>
            <a:ext cx="10728655" cy="310896"/>
          </a:xfrm>
          <a:prstGeom prst="rect">
            <a:avLst/>
          </a:prstGeom>
          <a:noFill/>
        </p:spPr>
        <p:txBody>
          <a:bodyPr wrap="square" lIns="0" rIns="0" tIns="0" bIns="0">
            <a:spAutoFit/>
          </a:bodyPr>
          <a:lstStyle/>
          <a:p>
            <a:pPr algn="l">
              <a:lnSpc>
                <a:spcPct val="112000"/>
              </a:lnSpc>
              <a:spcAft>
                <a:spcPts val="0"/>
              </a:spcAft>
            </a:pPr>
            <a:r>
              <a:rPr sz="1200" b="0" i="0">
                <a:solidFill>
                  <a:srgbClr val="6B675F"/>
                </a:solidFill>
                <a:latin typeface="IBM Plex Mono"/>
              </a:rPr>
              <a:t>Sesi                         Run          Sesi paralel saat berjalan</a:t>
            </a:r>
          </a:p>
        </p:txBody>
      </p:sp>
      <p:sp>
        <p:nvSpPr>
          <p:cNvPr id="6" name="Rectangle 5"/>
          <p:cNvSpPr/>
          <p:nvPr/>
        </p:nvSpPr>
        <p:spPr>
          <a:xfrm>
            <a:off x="731520" y="2386584"/>
            <a:ext cx="10728655"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96312"/>
            <a:ext cx="10728655" cy="3730752"/>
          </a:xfrm>
          <a:prstGeom prst="rect">
            <a:avLst/>
          </a:prstGeom>
          <a:noFill/>
        </p:spPr>
        <p:txBody>
          <a:bodyPr wrap="square" lIns="0" rIns="0" tIns="0" bIns="0">
            <a:spAutoFit/>
          </a:bodyPr>
          <a:lstStyle/>
          <a:p>
            <a:pPr algn="l">
              <a:lnSpc>
                <a:spcPct val="112000"/>
              </a:lnSpc>
              <a:spcAft>
                <a:spcPts val="300"/>
              </a:spcAft>
            </a:pPr>
            <a:r>
              <a:rPr sz="1250" b="0" i="0">
                <a:solidFill>
                  <a:srgbClr val="1C1B1A"/>
                </a:solidFill>
                <a:latin typeface="IBM Plex Mono"/>
              </a:rPr>
              <a:t>phase2-core-real             720          1 (SERIAL PENUH — subset bersih)</a:t>
            </a:r>
          </a:p>
          <a:p>
            <a:pPr algn="l">
              <a:lnSpc>
                <a:spcPct val="112000"/>
              </a:lnSpc>
              <a:spcAft>
                <a:spcPts val="300"/>
              </a:spcAft>
            </a:pPr>
            <a:r>
              <a:rPr sz="1250" b="0" i="0">
                <a:solidFill>
                  <a:srgbClr val="1C1B1A"/>
                </a:solidFill>
                <a:latin typeface="IBM Plex Mono"/>
              </a:rPr>
              <a:t>phase2-density-drillin       720          1–8 (332 run pada 8)</a:t>
            </a:r>
          </a:p>
          <a:p>
            <a:pPr algn="l">
              <a:lnSpc>
                <a:spcPct val="112000"/>
              </a:lnSpc>
              <a:spcAft>
                <a:spcPts val="300"/>
              </a:spcAft>
            </a:pPr>
            <a:r>
              <a:rPr sz="1250" b="0" i="0">
                <a:solidFill>
                  <a:srgbClr val="1C1B1A"/>
                </a:solidFill>
                <a:latin typeface="IBM Plex Mono"/>
              </a:rPr>
              <a:t>phase2-entropy-drillin       1.440        1–8 bervariasi</a:t>
            </a:r>
          </a:p>
          <a:p>
            <a:pPr algn="l">
              <a:lnSpc>
                <a:spcPct val="112000"/>
              </a:lnSpc>
              <a:spcAft>
                <a:spcPts val="300"/>
              </a:spcAft>
            </a:pPr>
            <a:r>
              <a:rPr sz="1250" b="0" i="0">
                <a:solidFill>
                  <a:srgbClr val="1C1B1A"/>
                </a:solidFill>
                <a:latin typeface="IBM Plex Mono"/>
              </a:rPr>
              <a:t>phase2-batch-real            1.080        2–8</a:t>
            </a:r>
          </a:p>
          <a:p>
            <a:pPr algn="l">
              <a:lnSpc>
                <a:spcPct val="112000"/>
              </a:lnSpc>
              <a:spcAft>
                <a:spcPts val="300"/>
              </a:spcAft>
            </a:pPr>
            <a:r>
              <a:rPr sz="1250" b="0" i="0">
                <a:solidFill>
                  <a:srgbClr val="1C1B1A"/>
                </a:solidFill>
                <a:latin typeface="IBM Plex Mono"/>
              </a:rPr>
              <a:t>phase2-core-cpu-rerun        720          4–8 (tidak pernah serial)</a:t>
            </a:r>
          </a:p>
          <a:p>
            <a:pPr algn="l">
              <a:lnSpc>
                <a:spcPct val="112000"/>
              </a:lnSpc>
              <a:spcAft>
                <a:spcPts val="300"/>
              </a:spcAft>
            </a:pPr>
            <a:r>
              <a:rPr sz="1250" b="0" i="0">
                <a:solidFill>
                  <a:srgbClr val="1C1B1A"/>
                </a:solidFill>
                <a:latin typeface="IBM Plex Mono"/>
              </a:rPr>
              <a:t>phase2-concurrency-drillin   1.440        1–8</a:t>
            </a:r>
          </a:p>
          <a:p>
            <a:pPr algn="l">
              <a:lnSpc>
                <a:spcPct val="112000"/>
              </a:lnSpc>
              <a:spcAft>
                <a:spcPts val="300"/>
              </a:spcAft>
            </a:pPr>
            <a:r>
              <a:rPr sz="1250" b="0" i="0">
                <a:solidFill>
                  <a:srgbClr val="1C1B1A"/>
                </a:solidFill>
                <a:latin typeface="IBM Plex Mono"/>
              </a:rPr>
              <a:t>phase2-network-drillin       720          5–8</a:t>
            </a:r>
          </a:p>
          <a:p>
            <a:pPr algn="l">
              <a:lnSpc>
                <a:spcPct val="112000"/>
              </a:lnSpc>
              <a:spcAft>
                <a:spcPts val="300"/>
              </a:spcAft>
            </a:pPr>
            <a:r>
              <a:rPr sz="1250" b="0" i="0">
                <a:solidFill>
                  <a:srgbClr val="1C1B1A"/>
                </a:solidFill>
                <a:latin typeface="IBM Plex Mono"/>
              </a:rPr>
              <a:t>network×conc / entropy×conc  720 / 1.440  4–8 / 1–8</a:t>
            </a:r>
          </a:p>
          <a:p>
            <a:pPr algn="l">
              <a:lnSpc>
                <a:spcPct val="112000"/>
              </a:lnSpc>
              <a:spcAft>
                <a:spcPts val="300"/>
              </a:spcAft>
            </a:pPr>
            <a:r>
              <a:rPr sz="1250" b="0" i="0">
                <a:solidFill>
                  <a:srgbClr val="1C1B1A"/>
                </a:solidFill>
                <a:latin typeface="IBM Plex Mono"/>
              </a:rPr>
              <a:t>phase2-concurrency100        720          mayoritas 1; 234 run pada 3</a:t>
            </a:r>
          </a:p>
          <a:p>
            <a:pPr algn="l">
              <a:lnSpc>
                <a:spcPct val="112000"/>
              </a:lnSpc>
              <a:spcAft>
                <a:spcPts val="300"/>
              </a:spcAft>
            </a:pPr>
            <a:r>
              <a:rPr sz="1250" b="0" i="0">
                <a:solidFill>
                  <a:srgbClr val="1C1B1A"/>
                </a:solidFill>
                <a:latin typeface="IBM Plex Mono"/>
              </a:rPr>
              <a:t>mot-scenarios-core           3.240        1 (serial penuh)</a:t>
            </a:r>
          </a:p>
        </p:txBody>
      </p:sp>
      <p:sp>
        <p:nvSpPr>
          <p:cNvPr id="8" name="TextBox 7"/>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9.000 dari 9.720 baris phase2 (92,6%) terkumpul saat 2–8 sesi berjalan → RQ3 memakai HANYA phase2-core-real; drill-in = korroborasi paling banter.</a:t>
            </a:r>
          </a:p>
        </p:txBody>
      </p:sp>
      <p:sp>
        <p:nvSpPr>
          <p:cNvPr id="9" name="TextBox 8">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8 · TELEMETRI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Bug telemetri CPU/RSS: ditemukan → diperbaiki → direplikasi penuh pada re-run bersih.</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Cacat: </a:t>
            </a:r>
            <a:r>
              <a:rPr sz="1400" b="0" i="0">
                <a:solidFill>
                  <a:srgbClr val="1C1B1A"/>
                </a:solidFill>
                <a:latin typeface="IBM Plex Sans"/>
              </a:rPr>
              <a:t>sampler memantau PID pembungkus (sudo), bukan proses server → kolom CPU/RSS phase2-core-real invalid; metrik lain (k6-path: latency, payload, hit rate) tidak terdampak.</a:t>
            </a:r>
          </a:p>
          <a:p>
            <a:pPr algn="l">
              <a:lnSpc>
                <a:spcPct val="112000"/>
              </a:lnSpc>
              <a:spcAft>
                <a:spcPts val="1000"/>
              </a:spcAft>
            </a:pPr>
            <a:r>
              <a:rPr sz="1400" b="0" i="0">
                <a:solidFill>
                  <a:srgbClr val="1C1B1A"/>
                </a:solidFill>
                <a:latin typeface="IBM Plex Sans SmBld"/>
              </a:rPr>
              <a:t>Perbaikan: </a:t>
            </a:r>
            <a:r>
              <a:rPr sz="1400" b="0" i="0">
                <a:solidFill>
                  <a:srgbClr val="1C1B1A"/>
                </a:solidFill>
                <a:latin typeface="IBM Plex Sans"/>
              </a:rPr>
              <a:t>sebelum studi MOT dijalankan; seluruh klaim CPU/memori Bab V bersumber dari korpus MOT.</a:t>
            </a:r>
          </a:p>
          <a:p>
            <a:pPr algn="l">
              <a:lnSpc>
                <a:spcPct val="112000"/>
              </a:lnSpc>
              <a:spcAft>
                <a:spcPts val="1000"/>
              </a:spcAft>
            </a:pPr>
            <a:r>
              <a:rPr sz="1400" b="0" i="0">
                <a:solidFill>
                  <a:srgbClr val="1C1B1A"/>
                </a:solidFill>
                <a:latin typeface="IBM Plex Sans SmBld"/>
              </a:rPr>
              <a:t>Re-run phase2-core-clean (720 run, desain identik): </a:t>
            </a:r>
            <a:r>
              <a:rPr sz="1400" b="0" i="0">
                <a:solidFill>
                  <a:srgbClr val="1C1B1A"/>
                </a:solidFill>
                <a:latin typeface="IBM Plex Sans"/>
              </a:rPr>
              <a:t>mereplikasi 12/12 blok — δ latensi tetap −1,00, pergeseran median ≤0,25 ms, hit rate identik hingga 3 desimal → CPU/RSS valid dilaporkan di Tabel L.2; konsisten dengan run verifikasi independen kedua (phase2-core-cpu-rerun).</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8 · INTEGRITAS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Audit integritas mot-scenarios-core: lulus setiap kriteria — termasuk dua disclosure kecil.</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Kelengkapan: </a:t>
            </a:r>
            <a:r>
              <a:rPr sz="1400" b="0" i="0">
                <a:solidFill>
                  <a:srgbClr val="1C1B1A"/>
                </a:solidFill>
                <a:latin typeface="IBM Plex Sans"/>
              </a:rPr>
              <a:t>3.240/3.240 baris (md5 94866487…); 108 sel × tepat 30 run; error_rate 0 di semua baris.</a:t>
            </a:r>
          </a:p>
          <a:p>
            <a:pPr algn="l">
              <a:lnSpc>
                <a:spcPct val="112000"/>
              </a:lnSpc>
              <a:spcAft>
                <a:spcPts val="1000"/>
              </a:spcAft>
            </a:pPr>
            <a:r>
              <a:rPr sz="1400" b="0" i="0">
                <a:solidFill>
                  <a:srgbClr val="1C1B1A"/>
                </a:solidFill>
                <a:latin typeface="IBM Plex Sans SmBld"/>
              </a:rPr>
              <a:t>In-band audit: </a:t>
            </a:r>
            <a:r>
              <a:rPr sz="1400" b="0" i="0">
                <a:solidFill>
                  <a:srgbClr val="1C1B1A"/>
                </a:solidFill>
                <a:latin typeface="IBM Plex Sans"/>
              </a:rPr>
              <a:t>3.240/3.240 k6 summaries terparse, 0 failed checks; log server 2,8 GB: 0 Traceback/ValueError/GraphQLError.</a:t>
            </a:r>
          </a:p>
          <a:p>
            <a:pPr algn="l">
              <a:lnSpc>
                <a:spcPct val="112000"/>
              </a:lnSpc>
              <a:spcAft>
                <a:spcPts val="1000"/>
              </a:spcAft>
            </a:pPr>
            <a:r>
              <a:rPr sz="1400" b="0" i="0">
                <a:solidFill>
                  <a:srgbClr val="1C1B1A"/>
                </a:solidFill>
                <a:latin typeface="IBM Plex Sans SmBld"/>
              </a:rPr>
              <a:t>Overload by design: </a:t>
            </a:r>
            <a:r>
              <a:rPr sz="1400" b="0" i="0">
                <a:solidFill>
                  <a:srgbClr val="1C1B1A"/>
                </a:solidFill>
                <a:latin typeface="IBM Plex Sans"/>
              </a:rPr>
              <a:t>dropped_iterations&gt;0 hanya di 91 baris r120 (M1-high·gql, M5-w23·gql, M6-k10·rest, M4-high·rest×1).</a:t>
            </a:r>
          </a:p>
          <a:p>
            <a:pPr algn="l">
              <a:lnSpc>
                <a:spcPct val="112000"/>
              </a:lnSpc>
              <a:spcAft>
                <a:spcPts val="1000"/>
              </a:spcAft>
            </a:pPr>
            <a:r>
              <a:rPr sz="1400" b="0" i="0">
                <a:solidFill>
                  <a:srgbClr val="1C1B1A"/>
                </a:solidFill>
                <a:latin typeface="IBM Plex Sans SmBld"/>
              </a:rPr>
              <a:t>Disclosure: </a:t>
            </a:r>
            <a:r>
              <a:rPr sz="1400" b="0" i="0">
                <a:solidFill>
                  <a:srgbClr val="1C1B1A"/>
                </a:solidFill>
                <a:latin typeface="IBM Plex Sans"/>
              </a:rPr>
              <a:t>identitas DB dibuktikan hash dump logis (cdb7c9f4…) karena file berpindah lokasi pasca-run; cpu_governor.txt kosong (VM tanpa cpufreq).</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9</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Fairness &amp; Protokol</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9 · FAIRNESS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Acceptance tests A1–A3: paritas dan fairness diuji otomatis, dengan bukti eksekusi nyata.</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A1 paritas data: </a:t>
            </a:r>
            <a:r>
              <a:rPr sz="1400" b="0" i="0">
                <a:solidFill>
                  <a:srgbClr val="1C1B1A"/>
                </a:solidFill>
                <a:latin typeface="IBM Plex Sans"/>
              </a:rPr>
              <a:t>respons deep-equal REST vs GraphQL pada 3 tier densitas, kondisi filter (class_id, min_confidence), dan kasus 404 (tests/test_parity.py — seluruh assertion lolos).</a:t>
            </a:r>
          </a:p>
          <a:p>
            <a:pPr algn="l">
              <a:lnSpc>
                <a:spcPct val="112000"/>
              </a:lnSpc>
              <a:spcAft>
                <a:spcPts val="1000"/>
              </a:spcAft>
            </a:pPr>
            <a:r>
              <a:rPr sz="1400" b="0" i="0">
                <a:solidFill>
                  <a:srgbClr val="1C1B1A"/>
                </a:solidFill>
                <a:latin typeface="IBM Plex Sans SmBld"/>
              </a:rPr>
              <a:t>A2 jalur akses: </a:t>
            </a:r>
            <a:r>
              <a:rPr sz="1400" b="0" i="0">
                <a:solidFill>
                  <a:srgbClr val="1C1B1A"/>
                </a:solidFill>
                <a:latin typeface="IBM Plex Sans"/>
              </a:rPr>
              <a:t>APE_LOG_SQL=1 → SQL kedua protokol di-diff tabel &amp; predikatnya — bukan diasumsikan sama.</a:t>
            </a:r>
          </a:p>
          <a:p>
            <a:pPr algn="l">
              <a:lnSpc>
                <a:spcPct val="112000"/>
              </a:lnSpc>
              <a:spcAft>
                <a:spcPts val="1000"/>
              </a:spcAft>
            </a:pPr>
            <a:r>
              <a:rPr sz="1400" b="0" i="0">
                <a:solidFill>
                  <a:srgbClr val="1C1B1A"/>
                </a:solidFill>
                <a:latin typeface="IBM Plex Sans SmBld"/>
              </a:rPr>
              <a:t>A3 fairness cache: </a:t>
            </a:r>
            <a:r>
              <a:rPr sz="1400" b="0" i="0">
                <a:solidFill>
                  <a:srgbClr val="1C1B1A"/>
                </a:solidFill>
                <a:latin typeface="IBM Plex Sans"/>
              </a:rPr>
              <a:t>Varnish nyata via subprocess: MISS→HIT dengan ETag identik di kedua protokol; no-store dihormati; hash APQ mismatch ditolak (PERSISTED_QUERY_HASH_MISMATCH).</a:t>
            </a:r>
          </a:p>
          <a:p>
            <a:pPr algn="l">
              <a:lnSpc>
                <a:spcPct val="112000"/>
              </a:lnSpc>
              <a:spcAft>
                <a:spcPts val="1000"/>
              </a:spcAft>
            </a:pPr>
            <a:r>
              <a:rPr sz="1400" b="0" i="0">
                <a:solidFill>
                  <a:srgbClr val="1C1B1A"/>
                </a:solidFill>
                <a:latin typeface="IBM Plex Sans SmBld"/>
              </a:rPr>
              <a:t>Gate MOT: </a:t>
            </a:r>
            <a:r>
              <a:rPr sz="1400" b="0" i="0">
                <a:solidFill>
                  <a:srgbClr val="1C1B1A"/>
                </a:solidFill>
                <a:latin typeface="IBM Plex Sans"/>
              </a:rPr>
              <a:t>18 passed / 2 skipped (skip = asersi SQL-log khusus sqlite pada backend memory); delta envelope konstan 19 B (M1–M3) / 13 B (M4); drift guard: query test suite ≡ query k6.</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9 · PROTOKOL</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Protokol wire APQ-over-GET: hash dulu, registrasi sekali, reuse selamanya — dan biayanya terukur.</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Langkah 1: </a:t>
            </a:r>
            <a:r>
              <a:rPr sz="1400" b="0" i="0">
                <a:solidFill>
                  <a:srgbClr val="1C1B1A"/>
                </a:solidFill>
                <a:latin typeface="IBM Plex Sans"/>
              </a:rPr>
              <a:t>GET /graphql?extensions={persistedQuery:{sha256Hash}}&amp;variables=… (hash-only, cacheable).</a:t>
            </a:r>
          </a:p>
          <a:p>
            <a:pPr algn="l">
              <a:lnSpc>
                <a:spcPct val="112000"/>
              </a:lnSpc>
              <a:spcAft>
                <a:spcPts val="1000"/>
              </a:spcAft>
            </a:pPr>
            <a:r>
              <a:rPr sz="1400" b="0" i="0">
                <a:solidFill>
                  <a:srgbClr val="1C1B1A"/>
                </a:solidFill>
                <a:latin typeface="IBM Plex Sans SmBld"/>
              </a:rPr>
              <a:t>Langkah 2 (miss): </a:t>
            </a:r>
            <a:r>
              <a:rPr sz="1400" b="0" i="0">
                <a:solidFill>
                  <a:srgbClr val="1C1B1A"/>
                </a:solidFill>
                <a:latin typeface="IBM Plex Sans"/>
              </a:rPr>
              <a:t>server balas PERSISTED_QUERY_NOT_FOUND → klien kirim ulang + teks query; server verifikasi sha256(query) == hash lalu simpan.</a:t>
            </a:r>
          </a:p>
          <a:p>
            <a:pPr algn="l">
              <a:lnSpc>
                <a:spcPct val="112000"/>
              </a:lnSpc>
              <a:spcAft>
                <a:spcPts val="1000"/>
              </a:spcAft>
            </a:pPr>
            <a:r>
              <a:rPr sz="1400" b="0" i="0">
                <a:solidFill>
                  <a:srgbClr val="1C1B1A"/>
                </a:solidFill>
                <a:latin typeface="IBM Plex Sans SmBld"/>
              </a:rPr>
              <a:t>Terukur, bukan diasumsikan: </a:t>
            </a:r>
            <a:r>
              <a:rPr sz="1400" b="0" i="0">
                <a:solidFill>
                  <a:srgbClr val="1C1B1A"/>
                </a:solidFill>
                <a:latin typeface="IBM Plex Sans"/>
              </a:rPr>
              <a:t>kolom apq_registrations merekam biaya round-trip registrasi.</a:t>
            </a:r>
          </a:p>
          <a:p>
            <a:pPr algn="l">
              <a:lnSpc>
                <a:spcPct val="112000"/>
              </a:lnSpc>
              <a:spcAft>
                <a:spcPts val="1000"/>
              </a:spcAft>
            </a:pPr>
            <a:r>
              <a:rPr sz="1400" b="0" i="0">
                <a:solidFill>
                  <a:srgbClr val="1C1B1A"/>
                </a:solidFill>
                <a:latin typeface="IBM Plex Sans SmBld"/>
              </a:rPr>
              <a:t>Batas: </a:t>
            </a:r>
            <a:r>
              <a:rPr sz="1400" b="0" i="0">
                <a:solidFill>
                  <a:srgbClr val="1C1B1A"/>
                </a:solidFill>
                <a:latin typeface="IBM Plex Sans"/>
              </a:rPr>
              <a:t>store proses-lokal (single worker uvicorn); multi-worker butuh store bersama — di luar lingkup.</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9 · PROTOKOL</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DataLoader batching: GraphQL diuji dalam bentuk kompetennya — bukan strawman N+1.</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400" b="0" i="0">
                <a:solidFill>
                  <a:srgbClr val="1C1B1A"/>
                </a:solidFill>
                <a:latin typeface="IBM Plex Sans SmBld"/>
              </a:rPr>
              <a:t>Resolusi Detection.track(): </a:t>
            </a:r>
            <a:r>
              <a:rPr sz="1400" b="0" i="0">
                <a:solidFill>
                  <a:srgbClr val="1C1B1A"/>
                </a:solidFill>
                <a:latin typeface="IBM Plex Sans"/>
              </a:rPr>
              <a:t>strawberry.dataloader membatch ke SATU query SQL berklausa IN per batch — bukan satu query per deteksi.</a:t>
            </a:r>
          </a:p>
          <a:p>
            <a:pPr algn="l">
              <a:lnSpc>
                <a:spcPct val="112000"/>
              </a:lnSpc>
              <a:spcAft>
                <a:spcPts val="1000"/>
              </a:spcAft>
            </a:pPr>
            <a:r>
              <a:rPr sz="1400" b="0" i="0">
                <a:solidFill>
                  <a:srgbClr val="1C1B1A"/>
                </a:solidFill>
                <a:latin typeface="IBM Plex Sans SmBld"/>
              </a:rPr>
              <a:t>Arm N+1 sengaja: </a:t>
            </a:r>
            <a:r>
              <a:rPr sz="1400" b="0" i="0">
                <a:solidFill>
                  <a:srgbClr val="1C1B1A"/>
                </a:solidFill>
                <a:latin typeface="IBM Plex Sans"/>
              </a:rPr>
              <a:t>APE_GRAPHQL_BATCHING=off tersedia untuk studi sisipan yang mengkuantifikasi penalti N+1 — bukan perbandingan utama.</a:t>
            </a:r>
          </a:p>
          <a:p>
            <a:pPr algn="l">
              <a:lnSpc>
                <a:spcPct val="112000"/>
              </a:lnSpc>
              <a:spcAft>
                <a:spcPts val="1000"/>
              </a:spcAft>
            </a:pPr>
            <a:r>
              <a:rPr sz="1400" b="0" i="0">
                <a:solidFill>
                  <a:srgbClr val="1C1B1A"/>
                </a:solidFill>
                <a:latin typeface="IBM Plex Sans SmBld"/>
              </a:rPr>
              <a:t>Status: </a:t>
            </a:r>
            <a:r>
              <a:rPr sz="1400" b="0" i="0">
                <a:solidFill>
                  <a:srgbClr val="1C1B1A"/>
                </a:solidFill>
                <a:latin typeface="IBM Plex Sans"/>
              </a:rPr>
              <a:t>belum dikuantifikasi terpisah → butir Saran Bab VII (WunderGraph 2026: batching dapat menurunkan cache-hit rate meski mengurangi round-trip).</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640080" y="1234440"/>
            <a:ext cx="6858000" cy="3108960"/>
          </a:xfrm>
          <a:prstGeom prst="rect">
            <a:avLst/>
          </a:prstGeom>
          <a:noFill/>
        </p:spPr>
        <p:txBody>
          <a:bodyPr wrap="square" lIns="0" rIns="0" tIns="0" bIns="0">
            <a:spAutoFit/>
          </a:bodyPr>
          <a:lstStyle/>
          <a:p>
            <a:pPr algn="l">
              <a:lnSpc>
                <a:spcPct val="100000"/>
              </a:lnSpc>
              <a:spcAft>
                <a:spcPts val="0"/>
              </a:spcAft>
            </a:pPr>
            <a:r>
              <a:rPr sz="18000" b="0" i="0">
                <a:solidFill>
                  <a:srgbClr val="D8D4CC"/>
                </a:solidFill>
                <a:latin typeface="IBM Plex Mono"/>
              </a:rPr>
              <a:t>10</a:t>
            </a:r>
          </a:p>
        </p:txBody>
      </p:sp>
      <p:sp>
        <p:nvSpPr>
          <p:cNvPr id="3" name="TextBox 2"/>
          <p:cNvSpPr txBox="1"/>
          <p:nvPr/>
        </p:nvSpPr>
        <p:spPr>
          <a:xfrm>
            <a:off x="731520" y="4709160"/>
            <a:ext cx="10728655" cy="822960"/>
          </a:xfrm>
          <a:prstGeom prst="rect">
            <a:avLst/>
          </a:prstGeom>
          <a:noFill/>
        </p:spPr>
        <p:txBody>
          <a:bodyPr wrap="square" lIns="0" rIns="0" tIns="0" bIns="0">
            <a:spAutoFit/>
          </a:bodyPr>
          <a:lstStyle/>
          <a:p>
            <a:pPr algn="l">
              <a:lnSpc>
                <a:spcPct val="112000"/>
              </a:lnSpc>
              <a:spcAft>
                <a:spcPts val="0"/>
              </a:spcAft>
            </a:pPr>
            <a:r>
              <a:rPr sz="3000" b="0" i="0">
                <a:solidFill>
                  <a:srgbClr val="1C1B1A"/>
                </a:solidFill>
                <a:latin typeface="IBM Plex Sans SmBld"/>
              </a:rPr>
              <a:t>Lampiran — Q&amp;A &amp; Referensi</a:t>
            </a:r>
          </a:p>
        </p:txBody>
      </p:sp>
      <p:sp>
        <p:nvSpPr>
          <p:cNvPr id="4" name="TextBox 3">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kesimpulan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10 · ANTISIPASI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Lima serangan penguji yang paling mungkin — dan amunisinya.</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250" b="0" i="0">
                <a:solidFill>
                  <a:srgbClr val="1C1B1A"/>
                </a:solidFill>
                <a:latin typeface="IBM Plex Sans SmBld"/>
              </a:rPr>
              <a:t>“Lawi 2021: GraphQL lebih hemat CPU — Anda 4×?” </a:t>
            </a:r>
            <a:r>
              <a:rPr sz="1250" b="0" i="0">
                <a:solidFill>
                  <a:srgbClr val="1C1B1A"/>
                </a:solidFill>
                <a:latin typeface="IBM Plex Sans"/>
              </a:rPr>
              <a:t>Beda titik ukur (gateway sistem utuh vs cgroup+psutil proses server), beda load model (closed-loop JMeter vs open-loop laju identik), beda stack; konvergen Elghazal 2025; direplikasi 2 run independen (core-clean, cpu-rerun).</a:t>
            </a:r>
          </a:p>
          <a:p>
            <a:pPr algn="l">
              <a:lnSpc>
                <a:spcPct val="112000"/>
              </a:lnSpc>
              <a:spcAft>
                <a:spcPts val="1000"/>
              </a:spcAft>
            </a:pPr>
            <a:r>
              <a:rPr sz="1250" b="0" i="0">
                <a:solidFill>
                  <a:srgbClr val="1C1B1A"/>
                </a:solidFill>
                <a:latin typeface="IBM Plex Sans SmBld"/>
              </a:rPr>
              <a:t>“δ = ±1,00 di mana-mana — mencurigakan?” </a:t>
            </a:r>
            <a:r>
              <a:rPr sz="1250" b="0" i="0">
                <a:solidFill>
                  <a:srgbClr val="1C1B1A"/>
                </a:solidFill>
                <a:latin typeface="IBM Plex Sans"/>
              </a:rPr>
              <a:t>Gap konsisten + varians kecil (n=30, lingkungan terkontrol) = δ jenuh; justru bukti kontrol; selisih praktis dilaporkan terpisah (ms/%) — lihat non-temuan throughput.</a:t>
            </a:r>
          </a:p>
          <a:p>
            <a:pPr algn="l">
              <a:lnSpc>
                <a:spcPct val="112000"/>
              </a:lnSpc>
              <a:spcAft>
                <a:spcPts val="1000"/>
              </a:spcAft>
            </a:pPr>
            <a:r>
              <a:rPr sz="1250" b="0" i="0">
                <a:solidFill>
                  <a:srgbClr val="1C1B1A"/>
                </a:solidFill>
                <a:latin typeface="IBM Plex Sans SmBld"/>
              </a:rPr>
              <a:t>“REST Anda tailored; GraphQL tak diberi kesempatan?” </a:t>
            </a:r>
            <a:r>
              <a:rPr sz="1250" b="0" i="0">
                <a:solidFill>
                  <a:srgbClr val="1C1B1A"/>
                </a:solidFill>
                <a:latin typeface="IBM Plex Sans"/>
              </a:rPr>
              <a:t>By design: yang diukur overhead protokol pada fungsionalitas setara; keunggulan konsolidasi GraphQL tetap terukur dan menang di M6 K≥5; preseden dua ujung: Brito 2019 (REST generik, −99%).</a:t>
            </a:r>
          </a:p>
          <a:p>
            <a:pPr algn="l">
              <a:lnSpc>
                <a:spcPct val="112000"/>
              </a:lnSpc>
              <a:spcAft>
                <a:spcPts val="1000"/>
              </a:spcAft>
            </a:pPr>
            <a:r>
              <a:rPr sz="1250" b="0" i="0">
                <a:solidFill>
                  <a:srgbClr val="1C1B1A"/>
                </a:solidFill>
                <a:latin typeface="IBM Plex Sans SmBld"/>
              </a:rPr>
              <a:t>“Generalisasi?” </a:t>
            </a:r>
            <a:r>
              <a:rPr sz="1250" b="0" i="0">
                <a:solidFill>
                  <a:srgbClr val="1C1B1A"/>
                </a:solidFill>
                <a:latin typeface="IBM Plex Sans"/>
              </a:rPr>
              <a:t>Ancaman validitas eksplisit (1 mesin, 1 stack, netem, 7 sequence); prediksi arah: RTT besar menggeser crossover pro-GraphQL (Jin et al. 2024).</a:t>
            </a:r>
          </a:p>
        </p:txBody>
      </p:sp>
      <p:sp>
        <p:nvSpPr>
          <p:cNvPr id="5" name="TextBox 4"/>
          <p:cNvSpPr txBox="1"/>
          <p:nvPr/>
        </p:nvSpPr>
        <p:spPr>
          <a:xfrm>
            <a:off x="731520" y="6382512"/>
            <a:ext cx="10728655" cy="36576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Sans"/>
              </a:rPr>
              <a:t>Status H3/H4: lihat slide berikut.</a:t>
            </a:r>
          </a:p>
        </p:txBody>
      </p:sp>
      <p:sp>
        <p:nvSpPr>
          <p:cNvPr id="6" name="TextBox 5">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10 · HIPOTESIS</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Peta vonis hipotesis — H1 didukung; H2 sebagian; H3 mekanistis; H4 menunggu kalimat vonis di tesis.</a:t>
            </a:r>
          </a:p>
        </p:txBody>
      </p:sp>
      <p:sp>
        <p:nvSpPr>
          <p:cNvPr id="4" name="TextBox 3"/>
          <p:cNvSpPr txBox="1"/>
          <p:nvPr/>
        </p:nvSpPr>
        <p:spPr>
          <a:xfrm>
            <a:off x="731520" y="2377440"/>
            <a:ext cx="9631375" cy="3977640"/>
          </a:xfrm>
          <a:prstGeom prst="rect">
            <a:avLst/>
          </a:prstGeom>
          <a:noFill/>
        </p:spPr>
        <p:txBody>
          <a:bodyPr wrap="square" lIns="0" rIns="0" tIns="0" bIns="0">
            <a:spAutoFit/>
          </a:bodyPr>
          <a:lstStyle/>
          <a:p>
            <a:pPr algn="l">
              <a:lnSpc>
                <a:spcPct val="112000"/>
              </a:lnSpc>
              <a:spcAft>
                <a:spcPts val="1000"/>
              </a:spcAft>
            </a:pPr>
            <a:r>
              <a:rPr sz="1250" b="0" i="0">
                <a:solidFill>
                  <a:srgbClr val="1C1B1A"/>
                </a:solidFill>
                <a:latin typeface="IBM Plex Sans SmBld"/>
              </a:rPr>
              <a:t>H1 — DIDUKUNG: </a:t>
            </a:r>
            <a:r>
              <a:rPr sz="1250" b="0" i="0">
                <a:solidFill>
                  <a:srgbClr val="1C1B1A"/>
                </a:solidFill>
                <a:latin typeface="IBM Plex Sans"/>
              </a:rPr>
              <a:t>REST latency lebih rendah di seluruh sel M1–M4 tanpa cache; pemisahan sempurna (Bab VII ¶RQ1).</a:t>
            </a:r>
          </a:p>
          <a:p>
            <a:pPr algn="l">
              <a:lnSpc>
                <a:spcPct val="112000"/>
              </a:lnSpc>
              <a:spcAft>
                <a:spcPts val="1000"/>
              </a:spcAft>
            </a:pPr>
            <a:r>
              <a:rPr sz="1250" b="0" i="0">
                <a:solidFill>
                  <a:srgbClr val="1C1B1A"/>
                </a:solidFill>
                <a:latin typeface="IBM Plex Sans SmBld"/>
              </a:rPr>
              <a:t>H2 — DIDUKUNG SEBAGIAN: </a:t>
            </a:r>
            <a:r>
              <a:rPr sz="1250" b="0" i="0">
                <a:solidFill>
                  <a:srgbClr val="1C1B1A"/>
                </a:solidFill>
                <a:latin typeface="IBM Plex Sans"/>
              </a:rPr>
              <a:t>APQ menyetarakan cacheability &amp; hit rate; caching mempersempit tapi tidak menghapus selisih; manfaat bersyarat pola akses berulang (Bab VII ¶RQ3).</a:t>
            </a:r>
          </a:p>
          <a:p>
            <a:pPr algn="l">
              <a:lnSpc>
                <a:spcPct val="112000"/>
              </a:lnSpc>
              <a:spcAft>
                <a:spcPts val="1000"/>
              </a:spcAft>
            </a:pPr>
            <a:r>
              <a:rPr sz="1250" b="0" i="0">
                <a:solidFill>
                  <a:srgbClr val="1C1B1A"/>
                </a:solidFill>
                <a:latin typeface="IBM Plex Sans SmBld"/>
              </a:rPr>
              <a:t>H3 — KONSISTEN MEKANISTIS: </a:t>
            </a:r>
            <a:r>
              <a:rPr sz="1250" b="0" i="0">
                <a:solidFill>
                  <a:srgbClr val="1C1B1A"/>
                </a:solidFill>
                <a:latin typeface="IBM Plex Sans"/>
              </a:rPr>
              <a:t>faktor entropi dikunci medium di grid inti; prediksi didukung sifat cache key sebagai fungsi teks kueri. Catatan: drill-in entropi 1.440 run ada di results/ namun terdampak paralelisme → korroborasi saja.</a:t>
            </a:r>
          </a:p>
          <a:p>
            <a:pPr algn="l">
              <a:lnSpc>
                <a:spcPct val="112000"/>
              </a:lnSpc>
              <a:spcAft>
                <a:spcPts val="1000"/>
              </a:spcAft>
            </a:pPr>
            <a:r>
              <a:rPr sz="1250" b="0" i="0">
                <a:solidFill>
                  <a:srgbClr val="1C1B1A"/>
                </a:solidFill>
                <a:latin typeface="IBM Plex Sans SmBld"/>
              </a:rPr>
              <a:t>H4 — [VERIFY: vonis H4 belum eksplisit di Bab V/VII]: </a:t>
            </a:r>
            <a:r>
              <a:rPr sz="1250" b="0" i="0">
                <a:solidFill>
                  <a:srgbClr val="1C1B1A"/>
                </a:solidFill>
                <a:latin typeface="IBM Plex Sans"/>
              </a:rPr>
              <a:t>data pendukung &amp; pembantah tersedia (densitas M1–M4, window M5 vs label payload grid caching); kalimat vonis diusulkan terpisah — slide di-update setelah teks tesis final.</a:t>
            </a:r>
          </a:p>
        </p:txBody>
      </p:sp>
      <p:sp>
        <p:nvSpPr>
          <p:cNvPr id="5" name="TextBox 4">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10 · REFERENSI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Daftar pustaka (pasca-audit) — 1–16 dari 45.</a:t>
            </a:r>
          </a:p>
        </p:txBody>
      </p:sp>
      <p:sp>
        <p:nvSpPr>
          <p:cNvPr id="4" name="TextBox 3"/>
          <p:cNvSpPr txBox="1"/>
          <p:nvPr/>
        </p:nvSpPr>
        <p:spPr>
          <a:xfrm>
            <a:off x="731520"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1–8</a:t>
            </a:r>
          </a:p>
        </p:txBody>
      </p:sp>
      <p:sp>
        <p:nvSpPr>
          <p:cNvPr id="5" name="Rectangle 4"/>
          <p:cNvSpPr/>
          <p:nvPr/>
        </p:nvSpPr>
        <p:spPr>
          <a:xfrm>
            <a:off x="731520"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Ala-Laurinaho, R., Mattila, J., Autiosalo, J., Hietala, J., Laaki, H., &amp; Tammi, K. (2022). Comparison of REST and GraphQL Interfaces for OPC UA. Computers (MDPI). https://doi.org/10.3390/computers11050065</a:t>
            </a:r>
          </a:p>
          <a:p>
            <a:pPr algn="l">
              <a:lnSpc>
                <a:spcPct val="112000"/>
              </a:lnSpc>
              <a:spcAft>
                <a:spcPts val="800"/>
              </a:spcAft>
            </a:pPr>
            <a:r>
              <a:rPr sz="900" b="0" i="0">
                <a:solidFill>
                  <a:srgbClr val="1C1B1A"/>
                </a:solidFill>
                <a:latin typeface="IBM Plex Sans"/>
              </a:rPr>
              <a:t>Ali, M. L. &amp; Zhang, Z. (2024). The YOLO Framework: A Comprehensive Review of Evolution, Applications, and Benchmarks in Object Detection. Computers (MDPI) 13(12):336. https://doi.org/10.3390/computers13120336</a:t>
            </a:r>
          </a:p>
          <a:p>
            <a:pPr algn="l">
              <a:lnSpc>
                <a:spcPct val="112000"/>
              </a:lnSpc>
              <a:spcAft>
                <a:spcPts val="800"/>
              </a:spcAft>
            </a:pPr>
            <a:r>
              <a:rPr sz="900" b="0" i="0">
                <a:solidFill>
                  <a:srgbClr val="1C1B1A"/>
                </a:solidFill>
                <a:latin typeface="IBM Plex Sans"/>
              </a:rPr>
              <a:t>Alonso, G., Casati, F., Kuno, H., &amp; Machiraju, V. (2004). Web Services: Concepts, Architectures and Applications. Springer. https://doi.org/10.1007/978-3-662-10876-5</a:t>
            </a:r>
          </a:p>
          <a:p>
            <a:pPr algn="l">
              <a:lnSpc>
                <a:spcPct val="112000"/>
              </a:lnSpc>
              <a:spcAft>
                <a:spcPts val="800"/>
              </a:spcAft>
            </a:pPr>
            <a:r>
              <a:rPr sz="900" b="0" i="0">
                <a:solidFill>
                  <a:srgbClr val="1C1B1A"/>
                </a:solidFill>
                <a:latin typeface="IBM Plex Sans"/>
              </a:rPr>
              <a:t>Apollo GraphQL (2026). Automatic Persisted Queries (APQ) - Dokumentasi. Apollo Docs. https://www.apollographql.com/docs/apollo-server/performance/apq</a:t>
            </a:r>
          </a:p>
          <a:p>
            <a:pPr algn="l">
              <a:lnSpc>
                <a:spcPct val="112000"/>
              </a:lnSpc>
              <a:spcAft>
                <a:spcPts val="800"/>
              </a:spcAft>
            </a:pPr>
            <a:r>
              <a:rPr sz="900" b="0" i="0">
                <a:solidFill>
                  <a:srgbClr val="1C1B1A"/>
                </a:solidFill>
                <a:latin typeface="IBM Plex Sans"/>
              </a:rPr>
              <a:t>Arcuri, A. &amp; Briand, L. (2011). A Practical Guide for Using Statistical Tests to Assess Randomized Algorithms in Software Engineering. ICSE 2011. https://doi.org/10.1145/1985793.1985795</a:t>
            </a:r>
          </a:p>
          <a:p>
            <a:pPr algn="l">
              <a:lnSpc>
                <a:spcPct val="112000"/>
              </a:lnSpc>
              <a:spcAft>
                <a:spcPts val="800"/>
              </a:spcAft>
            </a:pPr>
            <a:r>
              <a:rPr sz="900" b="0" i="0">
                <a:solidFill>
                  <a:srgbClr val="1C1B1A"/>
                </a:solidFill>
                <a:latin typeface="IBM Plex Sans"/>
              </a:rPr>
              <a:t>Bang, J., Kakkar, G. T., Chunduri, P., Mitra, S., &amp; Arulraj, J. (2023). Seiden: Revisiting Query Processing in Video Database Systems. PVLDB 16(9). https://doi.org/10.14778/3598581.3598599</a:t>
            </a:r>
          </a:p>
          <a:p>
            <a:pPr algn="l">
              <a:lnSpc>
                <a:spcPct val="112000"/>
              </a:lnSpc>
              <a:spcAft>
                <a:spcPts val="800"/>
              </a:spcAft>
            </a:pPr>
            <a:r>
              <a:rPr sz="900" b="0" i="0">
                <a:solidFill>
                  <a:srgbClr val="1C1B1A"/>
                </a:solidFill>
                <a:latin typeface="IBM Plex Sans"/>
              </a:rPr>
              <a:t>Breslau, L., Cao, P., Fan, L., Phillips, G., &amp; Shenker, S. (1999). Web Caching and Zipf-like Distributions: Evidence and Implications. IEEE INFOCOM 1999. https://doi.org/10.1109/INFCOM.1999.749260</a:t>
            </a:r>
          </a:p>
          <a:p>
            <a:pPr algn="l">
              <a:lnSpc>
                <a:spcPct val="112000"/>
              </a:lnSpc>
              <a:spcAft>
                <a:spcPts val="800"/>
              </a:spcAft>
            </a:pPr>
            <a:r>
              <a:rPr sz="900" b="0" i="0">
                <a:solidFill>
                  <a:srgbClr val="1C1B1A"/>
                </a:solidFill>
                <a:latin typeface="IBM Plex Sans"/>
              </a:rPr>
              <a:t>Brito, G. &amp; Valente, M. T. (2020). REST vs GraphQL: A Controlled Experiment. IEEE ICSA 2020. https://arxiv.org/abs/2003.04761</a:t>
            </a:r>
          </a:p>
        </p:txBody>
      </p:sp>
      <p:sp>
        <p:nvSpPr>
          <p:cNvPr id="7" name="TextBox 6"/>
          <p:cNvSpPr txBox="1"/>
          <p:nvPr/>
        </p:nvSpPr>
        <p:spPr>
          <a:xfrm>
            <a:off x="6415887"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9–16</a:t>
            </a:r>
          </a:p>
        </p:txBody>
      </p:sp>
      <p:sp>
        <p:nvSpPr>
          <p:cNvPr id="8" name="Rectangle 7"/>
          <p:cNvSpPr/>
          <p:nvPr/>
        </p:nvSpPr>
        <p:spPr>
          <a:xfrm>
            <a:off x="6415887"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Brito, G., Mombach, T., &amp; Valente, M. T. (2019). Migrating to GraphQL: A Practical Assessment. IEEE SANER 2019. https://arxiv.org/abs/1906.07535</a:t>
            </a:r>
          </a:p>
          <a:p>
            <a:pPr algn="l">
              <a:lnSpc>
                <a:spcPct val="112000"/>
              </a:lnSpc>
              <a:spcAft>
                <a:spcPts val="800"/>
              </a:spcAft>
            </a:pPr>
            <a:r>
              <a:rPr sz="900" b="0" i="0">
                <a:solidFill>
                  <a:srgbClr val="1C1B1A"/>
                </a:solidFill>
                <a:latin typeface="IBM Plex Sans"/>
              </a:rPr>
              <a:t>Cha, A., Wittern, E., Baudart, G., Davis, J. C., Mandel, L., &amp; Laredo, J. A. (2020). A Principled Approach to GraphQL Query Cost Analysis. ESEC/FSE 2020 (ACM). https://doi.org/10.1145/3368089.3409670</a:t>
            </a:r>
          </a:p>
          <a:p>
            <a:pPr algn="l">
              <a:lnSpc>
                <a:spcPct val="112000"/>
              </a:lnSpc>
              <a:spcAft>
                <a:spcPts val="800"/>
              </a:spcAft>
            </a:pPr>
            <a:r>
              <a:rPr sz="900" b="0" i="0">
                <a:solidFill>
                  <a:srgbClr val="1C1B1A"/>
                </a:solidFill>
                <a:latin typeface="IBM Plex Sans"/>
              </a:rPr>
              <a:t>Crankshaw, D., Wang, X., Zhou, G., Franklin, M. J., Gonzalez, J. E., &amp; Stoica, I. (2017). Clipper: A Low-Latency Online Prediction Serving System. NSDI 2017. https://www.usenix.org/conference/nsdi17/technical-sessions/presentation/crankshaw</a:t>
            </a:r>
          </a:p>
          <a:p>
            <a:pPr algn="l">
              <a:lnSpc>
                <a:spcPct val="112000"/>
              </a:lnSpc>
              <a:spcAft>
                <a:spcPts val="800"/>
              </a:spcAft>
            </a:pPr>
            <a:r>
              <a:rPr sz="900" b="0" i="0">
                <a:solidFill>
                  <a:srgbClr val="1C1B1A"/>
                </a:solidFill>
                <a:latin typeface="IBM Plex Sans"/>
              </a:rPr>
              <a:t>De Rosa, P., Bromberg, Y.-D., Felber, P., Mvondo, D., &amp; Schiavoni, V. (2024). On the Cost of Model-Serving Frameworks: An Experimental Evaluation. IEEE IC2E 2024, pp. 221-232. https://doi.org/10.1109/IC2E61754.2024.00032</a:t>
            </a:r>
          </a:p>
          <a:p>
            <a:pPr algn="l">
              <a:lnSpc>
                <a:spcPct val="112000"/>
              </a:lnSpc>
              <a:spcAft>
                <a:spcPts val="800"/>
              </a:spcAft>
            </a:pPr>
            <a:r>
              <a:rPr sz="900" b="0" i="0">
                <a:solidFill>
                  <a:srgbClr val="1C1B1A"/>
                </a:solidFill>
                <a:latin typeface="IBM Plex Sans"/>
              </a:rPr>
              <a:t>Elghazal, M. S. M., Aneiba, A., &amp; Shahra, E. Q. (2025). Performance Evaluation of REST and GraphQL API Models in Microservices Software Development Domain. WEBIST 2025 (Scitepress), pp. 83-91. https://www.scitepress.org/Papers/2025/137299/137299.pdf</a:t>
            </a:r>
          </a:p>
          <a:p>
            <a:pPr algn="l">
              <a:lnSpc>
                <a:spcPct val="112000"/>
              </a:lnSpc>
              <a:spcAft>
                <a:spcPts val="800"/>
              </a:spcAft>
            </a:pPr>
            <a:r>
              <a:rPr sz="900" b="0" i="0">
                <a:solidFill>
                  <a:srgbClr val="1C1B1A"/>
                </a:solidFill>
                <a:latin typeface="IBM Plex Sans"/>
              </a:rPr>
              <a:t>Fiel Peres, F. (2025). Effect sizes for nonparametric tests (review). Biochemia Medica. https://doi.org/10.11613/BM.2026.010101</a:t>
            </a:r>
          </a:p>
          <a:p>
            <a:pPr algn="l">
              <a:lnSpc>
                <a:spcPct val="112000"/>
              </a:lnSpc>
              <a:spcAft>
                <a:spcPts val="800"/>
              </a:spcAft>
            </a:pPr>
            <a:r>
              <a:rPr sz="900" b="0" i="0">
                <a:solidFill>
                  <a:srgbClr val="1C1B1A"/>
                </a:solidFill>
                <a:latin typeface="IBM Plex Sans"/>
              </a:rPr>
              <a:t>Fielding, R. T. (2000). Architectural Styles and the Design of Network-based Software Architectures. UC Irvine (Disertasi PhD). https://roy.gbiv.com/pubs/dissertation/fielding_dissertation.pdf</a:t>
            </a:r>
          </a:p>
          <a:p>
            <a:pPr algn="l">
              <a:lnSpc>
                <a:spcPct val="112000"/>
              </a:lnSpc>
              <a:spcAft>
                <a:spcPts val="800"/>
              </a:spcAft>
            </a:pPr>
            <a:r>
              <a:rPr sz="900" b="0" i="0">
                <a:solidFill>
                  <a:srgbClr val="1C1B1A"/>
                </a:solidFill>
                <a:latin typeface="IBM Plex Sans"/>
              </a:rPr>
              <a:t>Fielding, R. T. &amp; Taylor, R. N. (2002). Principled Design of the Modern Web Architecture. ACM Transactions on Internet Technology (TOIT). https://doi.org/10.1145/514183.514185</a:t>
            </a:r>
          </a:p>
        </p:txBody>
      </p:sp>
      <p:sp>
        <p:nvSpPr>
          <p:cNvPr id="10" name="TextBox 9">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10 · REFERENSI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Daftar pustaka (pasca-audit) — 17–32 dari 45.</a:t>
            </a:r>
          </a:p>
        </p:txBody>
      </p:sp>
      <p:sp>
        <p:nvSpPr>
          <p:cNvPr id="4" name="TextBox 3"/>
          <p:cNvSpPr txBox="1"/>
          <p:nvPr/>
        </p:nvSpPr>
        <p:spPr>
          <a:xfrm>
            <a:off x="731520"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17–24</a:t>
            </a:r>
          </a:p>
        </p:txBody>
      </p:sp>
      <p:sp>
        <p:nvSpPr>
          <p:cNvPr id="5" name="Rectangle 4"/>
          <p:cNvSpPr/>
          <p:nvPr/>
        </p:nvSpPr>
        <p:spPr>
          <a:xfrm>
            <a:off x="731520"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Fielding, R., Nottingham, M., &amp; Reschke, J. (2022). RFC 9111: HTTP Caching. IETF (Internet Standard). https://doi.org/10.17487/RFC9111</a:t>
            </a:r>
          </a:p>
          <a:p>
            <a:pPr algn="l">
              <a:lnSpc>
                <a:spcPct val="112000"/>
              </a:lnSpc>
              <a:spcAft>
                <a:spcPts val="800"/>
              </a:spcAft>
            </a:pPr>
            <a:r>
              <a:rPr sz="900" b="0" i="0">
                <a:solidFill>
                  <a:srgbClr val="1C1B1A"/>
                </a:solidFill>
                <a:latin typeface="IBM Plex Sans"/>
              </a:rPr>
              <a:t>Goriparthi, S. (2024). Enhancing Data Query Efficiency with GraphQL APIs: A Comparative Study with RESTful Web Services. International Journal of Artificial Intelligence &amp; Machine Learning (IJAIML) Vol 3(1), 2024, p.132-143 -- IAEME Publication. https://iaeme.com/Home/article_id/IJAIML_03_01_013</a:t>
            </a:r>
          </a:p>
          <a:p>
            <a:pPr algn="l">
              <a:lnSpc>
                <a:spcPct val="112000"/>
              </a:lnSpc>
              <a:spcAft>
                <a:spcPts val="800"/>
              </a:spcAft>
            </a:pPr>
            <a:r>
              <a:rPr sz="900" b="0" i="0">
                <a:solidFill>
                  <a:srgbClr val="1C1B1A"/>
                </a:solidFill>
                <a:latin typeface="IBM Plex Sans"/>
              </a:rPr>
              <a:t>GraphQL Foundation (2026). Performance (Persisted Queries &amp; Caching). graphql.org/learn. https://graphql.org/learn/performance/</a:t>
            </a:r>
          </a:p>
          <a:p>
            <a:pPr algn="l">
              <a:lnSpc>
                <a:spcPct val="112000"/>
              </a:lnSpc>
              <a:spcAft>
                <a:spcPts val="800"/>
              </a:spcAft>
            </a:pPr>
            <a:r>
              <a:rPr sz="900" b="0" i="0">
                <a:solidFill>
                  <a:srgbClr val="1C1B1A"/>
                </a:solidFill>
                <a:latin typeface="IBM Plex Sans"/>
              </a:rPr>
              <a:t>Hartig, O. &amp; Perez, J. (2018). Semantics and Complexity of GraphQL. The Web Conference (WWW 2018). https://doi.org/10.1145/3178876.3186014</a:t>
            </a:r>
          </a:p>
          <a:p>
            <a:pPr algn="l">
              <a:lnSpc>
                <a:spcPct val="112000"/>
              </a:lnSpc>
              <a:spcAft>
                <a:spcPts val="800"/>
              </a:spcAft>
            </a:pPr>
            <a:r>
              <a:rPr sz="900" b="0" i="0">
                <a:solidFill>
                  <a:srgbClr val="1C1B1A"/>
                </a:solidFill>
                <a:latin typeface="IBM Plex Sans"/>
              </a:rPr>
              <a:t>Jackson, S., Cummings, N., &amp; Khan, S. (2024). Streaming Technologies and Serialization Protocols: Empirical Performance Analysis. IEEE Access 12. https://doi.org/10.1109/ACCESS.2024.3486054</a:t>
            </a:r>
          </a:p>
          <a:p>
            <a:pPr algn="l">
              <a:lnSpc>
                <a:spcPct val="112000"/>
              </a:lnSpc>
              <a:spcAft>
                <a:spcPts val="800"/>
              </a:spcAft>
            </a:pPr>
            <a:r>
              <a:rPr sz="900" b="0" i="0">
                <a:solidFill>
                  <a:srgbClr val="1C1B1A"/>
                </a:solidFill>
                <a:latin typeface="IBM Plex Sans"/>
              </a:rPr>
              <a:t>Jin, R., Cordingly, R., Zhao, D., &amp; Lloyd, W. (2024). GraphQL vs. REST: A Performance and Cost Investigation for Serverless Applications. WOSC 2024 (ACM). https://doi.org/10.1145/3702634.3702956</a:t>
            </a:r>
          </a:p>
          <a:p>
            <a:pPr algn="l">
              <a:lnSpc>
                <a:spcPct val="112000"/>
              </a:lnSpc>
              <a:spcAft>
                <a:spcPts val="800"/>
              </a:spcAft>
            </a:pPr>
            <a:r>
              <a:rPr sz="900" b="0" i="0">
                <a:solidFill>
                  <a:srgbClr val="1C1B1A"/>
                </a:solidFill>
                <a:latin typeface="IBM Plex Sans"/>
              </a:rPr>
              <a:t>Jin, R., Cordingly, R., Zhao, D., &amp; Lloyd, W. (2025). GraphQL vs. REST: Investigating Performance and Scalability for Serverless Data Persistence. IEEE IC2E 2025. https://faculty.washington.edu/wlloyd/papers/graphql-camera-ready.pdf</a:t>
            </a:r>
          </a:p>
          <a:p>
            <a:pPr algn="l">
              <a:lnSpc>
                <a:spcPct val="112000"/>
              </a:lnSpc>
              <a:spcAft>
                <a:spcPts val="800"/>
              </a:spcAft>
            </a:pPr>
            <a:r>
              <a:rPr sz="900" b="0" i="0">
                <a:solidFill>
                  <a:srgbClr val="1C1B1A"/>
                </a:solidFill>
                <a:latin typeface="IBM Plex Sans"/>
              </a:rPr>
              <a:t>Kang, D., Bailis, P., &amp; Zaharia, M. (2020). BlazeIt: Optimizing Declarative Aggregation and Limit Queries for Neural Network-Based Video Analytics. PVLDB 13(4). https://arxiv.org/abs/1805.01046</a:t>
            </a:r>
          </a:p>
        </p:txBody>
      </p:sp>
      <p:sp>
        <p:nvSpPr>
          <p:cNvPr id="7" name="TextBox 6"/>
          <p:cNvSpPr txBox="1"/>
          <p:nvPr/>
        </p:nvSpPr>
        <p:spPr>
          <a:xfrm>
            <a:off x="6415887"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25–32</a:t>
            </a:r>
          </a:p>
        </p:txBody>
      </p:sp>
      <p:sp>
        <p:nvSpPr>
          <p:cNvPr id="8" name="Rectangle 7"/>
          <p:cNvSpPr/>
          <p:nvPr/>
        </p:nvSpPr>
        <p:spPr>
          <a:xfrm>
            <a:off x="6415887"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Kerby, D. S. (2014). The Simple Difference Formula: An Approach to Teaching Nonparametric Correlation. Comprehensive Psychology, 3. https://doi.org/10.2466/11.IT.3.1</a:t>
            </a:r>
          </a:p>
          <a:p>
            <a:pPr algn="l">
              <a:lnSpc>
                <a:spcPct val="112000"/>
              </a:lnSpc>
              <a:spcAft>
                <a:spcPts val="800"/>
              </a:spcAft>
            </a:pPr>
            <a:r>
              <a:rPr sz="900" b="0" i="0">
                <a:solidFill>
                  <a:srgbClr val="1C1B1A"/>
                </a:solidFill>
                <a:latin typeface="IBM Plex Sans"/>
              </a:rPr>
              <a:t>Lawi, A., Panggabean, B. L. E., &amp; Yoshida, T. (2021). Evaluating GraphQL and REST API Services Performance in a Massive and Intensive Accessible Information System. Computers (MDPI). https://doi.org/10.3390/computers10110138</a:t>
            </a:r>
          </a:p>
          <a:p>
            <a:pPr algn="l">
              <a:lnSpc>
                <a:spcPct val="112000"/>
              </a:lnSpc>
              <a:spcAft>
                <a:spcPts val="800"/>
              </a:spcAft>
            </a:pPr>
            <a:r>
              <a:rPr sz="900" b="0" i="0">
                <a:solidFill>
                  <a:srgbClr val="1C1B1A"/>
                </a:solidFill>
                <a:latin typeface="IBM Plex Sans"/>
              </a:rPr>
              <a:t>Mann, H. B. &amp; Whitney, D. R. (1947). On a Test of Whether one of Two Random Variables is Stochastically Larger than the Other. The Annals of Mathematical Statistics, 18(1). https://doi.org/10.1214/aoms/1177730491</a:t>
            </a:r>
          </a:p>
          <a:p>
            <a:pPr algn="l">
              <a:lnSpc>
                <a:spcPct val="112000"/>
              </a:lnSpc>
              <a:spcAft>
                <a:spcPts val="800"/>
              </a:spcAft>
            </a:pPr>
            <a:r>
              <a:rPr sz="900" b="0" i="0">
                <a:solidFill>
                  <a:srgbClr val="1C1B1A"/>
                </a:solidFill>
                <a:latin typeface="IBM Plex Sans"/>
              </a:rPr>
              <a:t>Masse, M. (2011). REST API Design Rulebook. O'Reilly Media. https://www.oreilly.com/library/view/rest-api-design/9781449317904/</a:t>
            </a:r>
          </a:p>
          <a:p>
            <a:pPr algn="l">
              <a:lnSpc>
                <a:spcPct val="112000"/>
              </a:lnSpc>
              <a:spcAft>
                <a:spcPts val="800"/>
              </a:spcAft>
            </a:pPr>
            <a:r>
              <a:rPr sz="900" b="0" i="0">
                <a:solidFill>
                  <a:srgbClr val="1C1B1A"/>
                </a:solidFill>
                <a:latin typeface="IBM Plex Sans"/>
              </a:rPr>
              <a:t>Nieto, M., Otaegui, O., &amp; Senderos, O. (2021). Boosting AI applications: Labeling format for complex datasets. SoftwareX. https://doi.org/10.1016/j.softx.2020.100653</a:t>
            </a:r>
          </a:p>
          <a:p>
            <a:pPr algn="l">
              <a:lnSpc>
                <a:spcPct val="112000"/>
              </a:lnSpc>
              <a:spcAft>
                <a:spcPts val="800"/>
              </a:spcAft>
            </a:pPr>
            <a:r>
              <a:rPr sz="900" b="0" i="0">
                <a:solidFill>
                  <a:srgbClr val="1C1B1A"/>
                </a:solidFill>
                <a:latin typeface="IBM Plex Sans"/>
              </a:rPr>
              <a:t>Niswar, M., Safruddin, R. A., Bustamin, A., &amp; Aswad, I. (2024). Performance Evaluation of Microservices Communication with REST, GraphQL, and gRPC. Int. Journal of Electronics and Telecommunications. https://doi.org/10.24425/ijet.2024.149562</a:t>
            </a:r>
          </a:p>
          <a:p>
            <a:pPr algn="l">
              <a:lnSpc>
                <a:spcPct val="112000"/>
              </a:lnSpc>
              <a:spcAft>
                <a:spcPts val="800"/>
              </a:spcAft>
            </a:pPr>
            <a:r>
              <a:rPr sz="900" b="0" i="0">
                <a:solidFill>
                  <a:srgbClr val="1C1B1A"/>
                </a:solidFill>
                <a:latin typeface="IBM Plex Sans"/>
              </a:rPr>
              <a:t>Pantelic, N., Matic, L., Jakovljevic, L., Eric, S., Eric, M., Stefanovic, M., &amp; Djordjevic, A. (2026). Benchmarking SQL and NoSQL Persistence in Microservices Under Variable Workloads. Future Internet (MDPI) 18(1):53. https://doi.org/10.3390/fi18010053</a:t>
            </a:r>
          </a:p>
          <a:p>
            <a:pPr algn="l">
              <a:lnSpc>
                <a:spcPct val="112000"/>
              </a:lnSpc>
              <a:spcAft>
                <a:spcPts val="800"/>
              </a:spcAft>
            </a:pPr>
            <a:r>
              <a:rPr sz="900" b="0" i="0">
                <a:solidFill>
                  <a:srgbClr val="1C1B1A"/>
                </a:solidFill>
                <a:latin typeface="IBM Plex Sans"/>
              </a:rPr>
              <a:t>Pressman, R. S., &amp; Maxim, B. R. (2014). Software Engineering: A Practitioner's Approach (8th ed.). McGraw-Hill Education.</a:t>
            </a:r>
          </a:p>
        </p:txBody>
      </p:sp>
      <p:sp>
        <p:nvSpPr>
          <p:cNvPr id="10" name="TextBox 9">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502920"/>
            <a:ext cx="10728655" cy="274320"/>
          </a:xfrm>
          <a:prstGeom prst="rect">
            <a:avLst/>
          </a:prstGeom>
          <a:noFill/>
        </p:spPr>
        <p:txBody>
          <a:bodyPr wrap="square" lIns="0" rIns="0" tIns="0" bIns="0">
            <a:spAutoFit/>
          </a:bodyPr>
          <a:lstStyle/>
          <a:p>
            <a:pPr algn="l">
              <a:lnSpc>
                <a:spcPct val="112000"/>
              </a:lnSpc>
              <a:spcAft>
                <a:spcPts val="0"/>
              </a:spcAft>
            </a:pPr>
            <a:r>
              <a:rPr sz="1100" b="0" i="0">
                <a:solidFill>
                  <a:srgbClr val="6B675F"/>
                </a:solidFill>
                <a:latin typeface="IBM Plex Mono"/>
              </a:rPr>
              <a:t>LAMPIRAN 10 · REFERENSI</a:t>
            </a:r>
          </a:p>
        </p:txBody>
      </p:sp>
      <p:sp>
        <p:nvSpPr>
          <p:cNvPr id="3" name="TextBox 2"/>
          <p:cNvSpPr txBox="1"/>
          <p:nvPr/>
        </p:nvSpPr>
        <p:spPr>
          <a:xfrm>
            <a:off x="731520" y="841248"/>
            <a:ext cx="10728655" cy="1188720"/>
          </a:xfrm>
          <a:prstGeom prst="rect">
            <a:avLst/>
          </a:prstGeom>
          <a:noFill/>
        </p:spPr>
        <p:txBody>
          <a:bodyPr wrap="square" lIns="0" rIns="0" tIns="0" bIns="0">
            <a:spAutoFit/>
          </a:bodyPr>
          <a:lstStyle/>
          <a:p>
            <a:pPr algn="l">
              <a:lnSpc>
                <a:spcPct val="104000"/>
              </a:lnSpc>
              <a:spcAft>
                <a:spcPts val="0"/>
              </a:spcAft>
            </a:pPr>
            <a:r>
              <a:rPr sz="2900" b="0" i="0">
                <a:solidFill>
                  <a:srgbClr val="1C1B1A"/>
                </a:solidFill>
                <a:latin typeface="IBM Plex Sans SmBld"/>
              </a:rPr>
              <a:t>Daftar pustaka (pasca-audit) — 33–45 dari 45.</a:t>
            </a:r>
          </a:p>
        </p:txBody>
      </p:sp>
      <p:sp>
        <p:nvSpPr>
          <p:cNvPr id="4" name="TextBox 3"/>
          <p:cNvSpPr txBox="1"/>
          <p:nvPr/>
        </p:nvSpPr>
        <p:spPr>
          <a:xfrm>
            <a:off x="731520"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33–39</a:t>
            </a:r>
          </a:p>
        </p:txBody>
      </p:sp>
      <p:sp>
        <p:nvSpPr>
          <p:cNvPr id="5" name="Rectangle 4"/>
          <p:cNvSpPr/>
          <p:nvPr/>
        </p:nvSpPr>
        <p:spPr>
          <a:xfrm>
            <a:off x="731520"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Qiu, Z., Yang, J., &amp; Harchol-Balter, M. (2024). Can Increasing the Hit Ratio Hurt Cache Throughput?. ACM ValueTools 2024 / arXiv:2404.16219. https://arxiv.org/abs/2404.16219</a:t>
            </a:r>
          </a:p>
          <a:p>
            <a:pPr algn="l">
              <a:lnSpc>
                <a:spcPct val="112000"/>
              </a:lnSpc>
              <a:spcAft>
                <a:spcPts val="800"/>
              </a:spcAft>
            </a:pPr>
            <a:r>
              <a:rPr sz="900" b="0" i="0">
                <a:solidFill>
                  <a:srgbClr val="1C1B1A"/>
                </a:solidFill>
                <a:latin typeface="IBM Plex Sans"/>
              </a:rPr>
              <a:t>Quina-Mera, A., Fernandez, P., Garcia, J. M., &amp; Ruiz-Cortes, A. (2023). GraphQL: A Systematic Mapping Study. ACM Computing Surveys. https://doi.org/10.1145/3561818</a:t>
            </a:r>
          </a:p>
          <a:p>
            <a:pPr algn="l">
              <a:lnSpc>
                <a:spcPct val="112000"/>
              </a:lnSpc>
              <a:spcAft>
                <a:spcPts val="800"/>
              </a:spcAft>
            </a:pPr>
            <a:r>
              <a:rPr sz="900" b="0" i="0">
                <a:solidFill>
                  <a:srgbClr val="1C1B1A"/>
                </a:solidFill>
                <a:latin typeface="IBM Plex Sans"/>
              </a:rPr>
              <a:t>Redmon, J., Divvala, S., Girshick, R., &amp; Farhadi, A. (2016). You Only Look Once: Unified, Real-Time Object Detection. CVPR 2016. https://doi.org/10.1109/CVPR.2016.91</a:t>
            </a:r>
          </a:p>
          <a:p>
            <a:pPr algn="l">
              <a:lnSpc>
                <a:spcPct val="112000"/>
              </a:lnSpc>
              <a:spcAft>
                <a:spcPts val="800"/>
              </a:spcAft>
            </a:pPr>
            <a:r>
              <a:rPr sz="900" b="0" i="0">
                <a:solidFill>
                  <a:srgbClr val="1C1B1A"/>
                </a:solidFill>
                <a:latin typeface="IBM Plex Sans"/>
              </a:rPr>
              <a:t>Sapkota, R. &amp; Karkee, M. (2025). Ultralytics YOLO Evolution: An Overview of YOLO26, YOLO11, YOLOv8 and YOLOv5 Object Detectors for Computer Vision and Pattern Recognition. arXiv:2510.09653. https://arxiv.org/abs/2510.09653</a:t>
            </a:r>
          </a:p>
          <a:p>
            <a:pPr algn="l">
              <a:lnSpc>
                <a:spcPct val="112000"/>
              </a:lnSpc>
              <a:spcAft>
                <a:spcPts val="800"/>
              </a:spcAft>
            </a:pPr>
            <a:r>
              <a:rPr sz="900" b="0" i="0">
                <a:solidFill>
                  <a:srgbClr val="1C1B1A"/>
                </a:solidFill>
                <a:latin typeface="IBM Plex Sans"/>
              </a:rPr>
              <a:t>Seabra, M., Nazário, M. F., &amp; Pinto, G. (2019). REST or GraphQL? A Performance Comparative Study. SBCARS 2019 (ACM). https://doi.org/10.1145/3357141.3357149</a:t>
            </a:r>
          </a:p>
          <a:p>
            <a:pPr algn="l">
              <a:lnSpc>
                <a:spcPct val="112000"/>
              </a:lnSpc>
              <a:spcAft>
                <a:spcPts val="800"/>
              </a:spcAft>
            </a:pPr>
            <a:r>
              <a:rPr sz="900" b="0" i="0">
                <a:solidFill>
                  <a:srgbClr val="1C1B1A"/>
                </a:solidFill>
                <a:latin typeface="IBM Plex Sans"/>
              </a:rPr>
              <a:t>Stepien, K. &amp; Skublewska-Paszkowska, M. (2025). Performance evaluation of REST and GraphQL API approaches in data retrieval scenarios using NestJS. Journal of Computer Sciences Institute. https://doi.org/10.35784/jcsi.7794</a:t>
            </a:r>
          </a:p>
          <a:p>
            <a:pPr algn="l">
              <a:lnSpc>
                <a:spcPct val="112000"/>
              </a:lnSpc>
              <a:spcAft>
                <a:spcPts val="800"/>
              </a:spcAft>
            </a:pPr>
            <a:r>
              <a:rPr sz="900" b="0" i="0">
                <a:solidFill>
                  <a:srgbClr val="1C1B1A"/>
                </a:solidFill>
                <a:latin typeface="IBM Plex Sans"/>
              </a:rPr>
              <a:t>Tene, G. (2015). How NOT to Measure Latency [Conference presentation]. Strange Loop 2015.</a:t>
            </a:r>
          </a:p>
        </p:txBody>
      </p:sp>
      <p:sp>
        <p:nvSpPr>
          <p:cNvPr id="7" name="TextBox 6"/>
          <p:cNvSpPr txBox="1"/>
          <p:nvPr/>
        </p:nvSpPr>
        <p:spPr>
          <a:xfrm>
            <a:off x="6415887" y="2240280"/>
            <a:ext cx="5044287" cy="411480"/>
          </a:xfrm>
          <a:prstGeom prst="rect">
            <a:avLst/>
          </a:prstGeom>
          <a:noFill/>
        </p:spPr>
        <p:txBody>
          <a:bodyPr wrap="square" lIns="0" rIns="0" tIns="0" bIns="0">
            <a:spAutoFit/>
          </a:bodyPr>
          <a:lstStyle/>
          <a:p>
            <a:pPr algn="l">
              <a:lnSpc>
                <a:spcPct val="112000"/>
              </a:lnSpc>
              <a:spcAft>
                <a:spcPts val="0"/>
              </a:spcAft>
            </a:pPr>
            <a:r>
              <a:rPr sz="1600" b="0" i="0">
                <a:solidFill>
                  <a:srgbClr val="6B675F"/>
                </a:solidFill>
                <a:latin typeface="IBM Plex Sans SmBld"/>
              </a:rPr>
              <a:t>40–45</a:t>
            </a:r>
          </a:p>
        </p:txBody>
      </p:sp>
      <p:sp>
        <p:nvSpPr>
          <p:cNvPr id="8" name="Rectangle 7"/>
          <p:cNvSpPr/>
          <p:nvPr/>
        </p:nvSpPr>
        <p:spPr>
          <a:xfrm>
            <a:off x="6415887" y="2679192"/>
            <a:ext cx="5044287" cy="9525"/>
          </a:xfrm>
          <a:prstGeom prst="rect">
            <a:avLst/>
          </a:prstGeom>
          <a:solidFill>
            <a:srgbClr val="D8D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2862072"/>
            <a:ext cx="5044287" cy="3319272"/>
          </a:xfrm>
          <a:prstGeom prst="rect">
            <a:avLst/>
          </a:prstGeom>
          <a:noFill/>
        </p:spPr>
        <p:txBody>
          <a:bodyPr wrap="square" lIns="0" rIns="0" tIns="0" bIns="0">
            <a:spAutoFit/>
          </a:bodyPr>
          <a:lstStyle/>
          <a:p>
            <a:pPr algn="l">
              <a:lnSpc>
                <a:spcPct val="112000"/>
              </a:lnSpc>
              <a:spcAft>
                <a:spcPts val="800"/>
              </a:spcAft>
            </a:pPr>
            <a:r>
              <a:rPr sz="900" b="0" i="0">
                <a:solidFill>
                  <a:srgbClr val="1C1B1A"/>
                </a:solidFill>
                <a:latin typeface="IBM Plex Sans"/>
              </a:rPr>
              <a:t>Tomczak, M. &amp; Tomczak, E. (2014). The Need to Report Effect Size Estimates Revisited. An Overview of Some Recommended Measures of Effect Size. Trends in Sport Sciences, 1. https://www.wbc.poznan.pl/Content/325867/5_Trends_Vol21_2014_%20no1_20.pdf</a:t>
            </a:r>
          </a:p>
          <a:p>
            <a:pPr algn="l">
              <a:lnSpc>
                <a:spcPct val="112000"/>
              </a:lnSpc>
              <a:spcAft>
                <a:spcPts val="800"/>
              </a:spcAft>
            </a:pPr>
            <a:r>
              <a:rPr sz="900" b="0" i="0">
                <a:solidFill>
                  <a:srgbClr val="1C1B1A"/>
                </a:solidFill>
                <a:latin typeface="IBM Plex Sans"/>
              </a:rPr>
              <a:t>Vargha, A. &amp; Delaney, H. D. (2000). A Critique and Improvement of the CL Common Language Effect Size Statistics of McGraw and Wong. Journal of Educational and Behavioral Statistics, 25(2). https://doi.org/10.3102/10769986025002101</a:t>
            </a:r>
          </a:p>
          <a:p>
            <a:pPr algn="l">
              <a:lnSpc>
                <a:spcPct val="112000"/>
              </a:lnSpc>
              <a:spcAft>
                <a:spcPts val="800"/>
              </a:spcAft>
            </a:pPr>
            <a:r>
              <a:rPr sz="900" b="0" i="0">
                <a:solidFill>
                  <a:srgbClr val="1C1B1A"/>
                </a:solidFill>
                <a:latin typeface="IBM Plex Sans"/>
              </a:rPr>
              <a:t>Wittern, E., Cha, A., Davis, J. C., Baudart, G., &amp; Mandel, L. (2019). An Empirical Study of GraphQL Schemas. ICSOC 2019 (Springer LNCS). https://doi.org/10.1007/978-3-030-33702-5_1</a:t>
            </a:r>
          </a:p>
          <a:p>
            <a:pPr algn="l">
              <a:lnSpc>
                <a:spcPct val="112000"/>
              </a:lnSpc>
              <a:spcAft>
                <a:spcPts val="800"/>
              </a:spcAft>
            </a:pPr>
            <a:r>
              <a:rPr sz="900" b="0" i="0">
                <a:solidFill>
                  <a:srgbClr val="1C1B1A"/>
                </a:solidFill>
                <a:latin typeface="IBM Plex Sans"/>
              </a:rPr>
              <a:t>Wohlin, C., Runeson, P., Host, M., Ohlsson, M. C., Regnell, B., &amp; Wesslen, A. (2024). Experimentation in Software Engineering (2nd ed.). Springer. https://doi.org/10.1007/978-3-662-69306-3</a:t>
            </a:r>
          </a:p>
          <a:p>
            <a:pPr algn="l">
              <a:lnSpc>
                <a:spcPct val="112000"/>
              </a:lnSpc>
              <a:spcAft>
                <a:spcPts val="800"/>
              </a:spcAft>
            </a:pPr>
            <a:r>
              <a:rPr sz="900" b="0" i="0">
                <a:solidFill>
                  <a:srgbClr val="1C1B1A"/>
                </a:solidFill>
                <a:latin typeface="IBM Plex Sans"/>
              </a:rPr>
              <a:t>WunderGraph (2026). GraphQL vs REST: Claims Fact-Checked with Primary Sources. WunderGraph (blog teknis). https://wundergraph.com/blog/fact-checking-graphql-vs-rest</a:t>
            </a:r>
          </a:p>
          <a:p>
            <a:pPr algn="l">
              <a:lnSpc>
                <a:spcPct val="112000"/>
              </a:lnSpc>
              <a:spcAft>
                <a:spcPts val="800"/>
              </a:spcAft>
            </a:pPr>
            <a:r>
              <a:rPr sz="900" b="0" i="0">
                <a:solidFill>
                  <a:srgbClr val="1C1B1A"/>
                </a:solidFill>
                <a:latin typeface="IBM Plex Sans"/>
              </a:rPr>
              <a:t>Zhu, P., Wen, L., Du, D., Bian, X., Fan, H., Hu, Q., &amp; Ling, H. (2021). Detection and Tracking Meet Drones Challenge (VisDrone). IEEE TPAMI 44(11):7380-7399. https://doi.org/10.1109/TPAMI.2021.3119563</a:t>
            </a:r>
          </a:p>
        </p:txBody>
      </p:sp>
      <p:sp>
        <p:nvSpPr>
          <p:cNvPr id="10" name="TextBox 9">
            <a:hlinkClick action="ppaction://hlinksldjump" r:id="rId3"/>
          </p:cNvPr>
          <p:cNvSpPr txBox="1"/>
          <p:nvPr/>
        </p:nvSpPr>
        <p:spPr>
          <a:xfrm>
            <a:off x="9814255" y="484632"/>
            <a:ext cx="1645920" cy="274320"/>
          </a:xfrm>
          <a:prstGeom prst="rect">
            <a:avLst/>
          </a:prstGeom>
          <a:noFill/>
        </p:spPr>
        <p:txBody>
          <a:bodyPr wrap="none" lIns="0" rIns="0" tIns="0" bIns="0">
            <a:spAutoFit/>
          </a:bodyPr>
          <a:lstStyle/>
          <a:p>
            <a:pPr algn="r"/>
            <a:r>
              <a:rPr sz="1000" b="0" i="0">
                <a:solidFill>
                  <a:srgbClr val="6B675F"/>
                </a:solidFill>
                <a:latin typeface="IBM Plex Mono"/>
              </a:rPr>
              <a:t>← kembali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